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4735c3-2179-7511-0453-c970c6944b7d}">
          <p14:sldIdLst>
            <p14:sldId id="256"/>
            <p14:sldId id="257"/>
          </p14:sldIdLst>
        </p14:section>
        <p14:section name="The problem" id="{73edda57-6c73-3857-bc57-d2e4f95b138f}">
          <p14:sldIdLst>
            <p14:sldId id="258"/>
            <p14:sldId id="259"/>
          </p14:sldIdLst>
        </p14:section>
        <p14:section name="Live demo" id="{ad5d6580-539a-26ec-3d08-e5397ad0d153}">
          <p14:sldIdLst>
            <p14:sldId id="260"/>
            <p14:sldId id="261"/>
            <p14:sldId id="262"/>
            <p14:sldId id="263"/>
            <p14:sldId id="264"/>
            <p14:sldId id="265"/>
            <p14:sldId id="266"/>
          </p14:sldIdLst>
        </p14:section>
        <p14:section name="Privacy and evidence" id="{89ac05db-ad06-80c0-ae84-b4f55e1161c5}">
          <p14:sldIdLst>
            <p14:sldId id="267"/>
            <p14:sldId id="268"/>
          </p14:sldIdLst>
        </p14:section>
        <p14:section name="Getting started" id="{b537a5ee-244d-de2c-7db0-d54a28210220}">
          <p14:sldIdLst>
            <p14:sldId id="269"/>
            <p14:sldId id="270"/>
          </p14:sldIdLst>
        </p14:section>
        <p14:section name="Close" id="{82c68fb7-1804-5ec4-7eac-27d77c97e426}">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I'm with the Justice for Fraud Victims Project, and today I'll show you the Bank Statement Analyzer: a free, open-source tool that turns bank statement PDFs into forensic accounting workpapers.
Plan for about 45 minutes of talk and live demo, then questions. Everything you'll see in the demo is fictional: the bank, the customer and every transaction.
Before you start: have the app open in a browser tab with no project selected, so the home screen and "Try it with sample statements" button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live demo in the middle is the heart of the session; the parts around it explain why the tool exists and how you can use it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audience: who has typed a bank statement into Excel? That's the job this tool takes off your hands.
The point to land: the hard part of a fraud case isn't reading one statement, it's seeing patterns across many statements, from different banks, in different formats. And increasingly, the statements you're handed may not be the ones the bank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jobs. Upload one or more statements; the app reads every transaction, checks that what it read adds up to what the bank printed, flags patterns worth a closer look, and exports everything to Excel.
It runs on your own computer, so real statements never have to leave it. More on that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app now.
The demo uses Larkspur Valley Bank, a made-up bank, and a made-up customer, Evelyn Hartwell. Each page carries a red "SAMPLE STATEMENT, FICTIONAL DATA"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story before uploading anything, so the audience knows what to look for.
March is normal: about $16,000 in checking and a $50,000 CD. In April the caregiver, Dana Pruitt, who bills through "DP Companion Care LLC", gets access. The CD matures on April 14 and $24,000 is wired out the next day. By the end of May the account is overdrawn at minus $79.93.
Then the family asks for the statements, and the caregiver hands them a "family copy" of April that looks fine. Keep that in mind; we'll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click "Try it with sample statements". Four statements load: March, April and May checking, and the May credit card.
Walk through the Summary tab: 69 transactions, money in $59,324.41, money out $77,569.80, a net change of minus $18,245.39, and 32 higher-risk items.
Point out the reconciliation status: all four statements reconcile, meaning the app read every transaction correctly. We'll see why that matters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Dashboard tab.
Point to the balance-over-time chart: one spike in mid-April when the $50,000 CD lands, then a steady slide to zero. The cash-flow chart shows the big money-out weeks right after.
Try the filters: set Direction to "Money out" and Group by to "Weekly". Ask the audience what they'd want to look at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the Red Flags tab. The app reports 20 high-risk items, 12 medium, and 74 flags in all.
Read out the "Fraud patterns found" panel. The structuring one is a good teaching moment: banks report cash transactions over $10,000, so a run of withdrawals just under that line is a classic sign.
Then filter the Transactions tab for "Lucky Star" or "Pruitt" to show the underlying rows.
Key message: each of these is a reason to look closer, not proof of fraud. The caregiver payments might be legitimate wages; the investigator's job is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click "Try a doctored statement". This loads the genuine April statement next to the family copy.
Open the Document Check tab. The genuine statement passes; the family copy shows nine signs. Signs 1 to 3 come from the file itself (the software that made it, when it was saved, fonts). Signs 4 to 9 come from the numbers and dates not hanging together.
Also show the Bank Reconciliation tab: the family copy shows Variance.
Teaching point to stress: a clean result doesn't prove a statement is genuine either. When a statement matters, get it directly from the bank, or by subpoena.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the tool trustworthy enough for workpapers. Every statement is reconciled against what the bank itself printed: the opening and closing balances, the totals, the running balance.
If it says Reconciled, every dollar the bank recorded was read. If it says Variance, don't rely on the numbers until you've found out why. That's exactly what happened with the family copy.
Ask the audience: why does this matter more than the speed? (Answer: speed without accuracy is a liability in court.)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Download Workpapers and download the forensic workpaper. Open it in Excel and show the Flags_For_Review and Document_Checks sheets, and the Evidence sheet.
The fingerprint is the key idea for evidence: if anyone later questions which file you analyzed, run the same SHA-256 on the file and compare. Same fingerprint, same file, byte for byte.
Projects keep a case together: statements, notes on transactions, case notes, and a log of who did what and when, all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 statements are some of the most sensitive documents there are, so this matters.
Real cases: use the copy on your own computer, or your university's copy once it's set up. The online demo is for the fictional samples only.
The analyzer doesn't send statements anywhere, and the university copy is built so it can't: the browser is told to refuse any connection to an outside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exercise for after the webinar: load the doctored sample and see whether you can find all nine edits before opening the Document Check tab.
The app is free and open source under the Apache 2.0 license. Download it from GitHub; the first start installs what it needs, and after that it starts straight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faculty and IT staff on the call. There are two ways to host the analyzer inside your university's own domain, so statements stay under the school's control.
The browser build is the simplest: IT copies a folder of files to a web server. The server build adds OCR for scanned statements and sign-in through the school's login.
The Implementation Guide is written for IT and security reviewers. We'd welcome a pilot: one course for one semester. Contact JFVP to set one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If they remember one thing: the tool finds leads fast, but the conclusions are still the investigator's.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to questions.
Likely questions:
- Does it work with my bank? It reads statements by their layout, not by bank, so most banks work. If one doesn't, the "Add a New Bank" tab lets you teach it.
- Is it accurate? Check the Bank Reconciliation tab: Reconciled means every transaction the bank recorded was read.
- Can I use it on a real case? Yes, on your own computer or your university's copy; not on the online demo.
- What does it cost? It's free and open source under the Apache 2.0 license.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FVP Title">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48840"/>
            <a:ext cx="5852160" cy="1371600"/>
          </a:xfrm>
          <a:prstGeom prst="rect">
            <a:avLst/>
          </a:prstGeom>
          <a:noFill/>
          <a:ln/>
        </p:spPr>
        <p:txBody>
          <a:bodyPr wrap="square" rtlCol="0"/>
          <a:lstStyle>
            <a:lvl1pPr algn="l" indent="0" marL="0">
              <a:buNone/>
              <a:defRPr lang="en-US" sz="4600" i="1" dirty="0">
                <a:solidFill>
                  <a:schemeClr val="bg1"/>
                </a:solidFill>
                <a:latin typeface="Cambria" pitchFamily="34" charset="0"/>
                <a:ea typeface="Cambria" pitchFamily="34" charset="-122"/>
                <a:cs typeface="Cambria" pitchFamily="34" charset="-120"/>
              </a:defRPr>
            </a:lvl1pPr>
          </a:lstStyle>
          <a:p>
            <a:pPr algn="l" indent="0" marL="0">
              <a:buNone/>
            </a:pPr>
            <a:endParaRPr lang="en-US" sz="4600" dirty="0"/>
          </a:p>
        </p:txBody>
      </p:sp>
      <p:sp>
        <p:nvSpPr>
          <p:cNvPr id="3" name="Text 0"/>
          <p:cNvSpPr/>
          <p:nvPr>
            <p:ph idx="101" type="body" hasCustomPrompt="1"/>
          </p:nvPr>
        </p:nvSpPr>
        <p:spPr>
          <a:xfrm>
            <a:off x="731520" y="3611880"/>
            <a:ext cx="5669280" cy="91440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4" name="Text 0"/>
          <p:cNvSpPr/>
          <p:nvPr>
            <p:ph idx="102" type="body" hasCustomPrompt="1"/>
          </p:nvPr>
        </p:nvSpPr>
        <p:spPr>
          <a:xfrm>
            <a:off x="731520" y="5394960"/>
            <a:ext cx="5669280" cy="731520"/>
          </a:xfrm>
          <a:prstGeom prst="rect">
            <a:avLst/>
          </a:prstGeom>
          <a:noFill/>
          <a:ln/>
        </p:spPr>
        <p:txBody>
          <a:bodyPr wrap="square" rtlCol="0"/>
          <a:lstStyle>
            <a:lvl1pPr indent="0" marL="0">
              <a:buNone/>
              <a:defRPr lang="en-US" sz="1500" dirty="0">
                <a:solidFill>
                  <a:schemeClr val="accent3"/>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JFVP Section">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400800" cy="1188720"/>
          </a:xfrm>
          <a:prstGeom prst="rect">
            <a:avLst/>
          </a:prstGeom>
          <a:noFill/>
          <a:ln/>
        </p:spPr>
        <p:txBody>
          <a:bodyPr wrap="square" rtlCol="0"/>
          <a:lstStyle>
            <a:lvl1pPr algn="l" indent="0" marL="0">
              <a:buNone/>
              <a:defRPr lang="en-US" sz="4400" i="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611880"/>
            <a:ext cx="6400800" cy="1280160"/>
          </a:xfrm>
          <a:prstGeom prst="rect">
            <a:avLst/>
          </a:prstGeom>
          <a:noFill/>
          <a:ln/>
        </p:spPr>
        <p:txBody>
          <a:bodyPr wrap="square" rtlCol="0"/>
          <a:lstStyle>
            <a:lvl1pPr indent="0" marL="0">
              <a:buNone/>
              <a:defRPr lang="en-US" sz="2000" dirty="0">
                <a:solidFill>
                  <a:schemeClr val="accent4"/>
                </a:solidFill>
              </a:defRPr>
            </a:lvl1pPr>
          </a:lstStyle>
          <a:p>
            <a:pPr indent="0" marL="0">
              <a:buNone/>
            </a:pPr>
            <a:endParaRPr lang="en-US" sz="20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FVP 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3000" dirty="0">
                <a:solidFill>
                  <a:schemeClr val="accent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Bank Statement Analyzer  ·  Justice for Fraud Victims Project</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jpg"/><Relationship Id="rId6" Type="http://schemas.openxmlformats.org/officeDocument/2006/relationships/slideLayout" Target="../slideLayouts/slideLayout4.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jpg"/><Relationship Id="rId8" Type="http://schemas.openxmlformats.org/officeDocument/2006/relationships/slideLayout" Target="../slideLayouts/slideLayout4.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jpg"/><Relationship Id="rId5" Type="http://schemas.openxmlformats.org/officeDocument/2006/relationships/slideLayout" Target="../slideLayouts/slideLayout4.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jpg"/><Relationship Id="rId6" Type="http://schemas.openxmlformats.org/officeDocument/2006/relationships/slideLayout" Target="../slideLayouts/slideLayout4.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hyperlink" Target="https://github.com/jdaiken/parsing_tool" TargetMode="Externa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daiken/parsing_tool" TargetMode="External"/><Relationship Id="rId5" Type="http://schemas.openxmlformats.org/officeDocument/2006/relationships/hyperlink" Target="https://www.justiceforfraudvictimsproject.org/" TargetMode="External"/><Relationship Id="rId1" Type="http://schemas.openxmlformats.org/officeDocument/2006/relationships/image" Target="../media/image-17-1.png"/><Relationship Id="rId2" Type="http://schemas.openxmlformats.org/officeDocument/2006/relationships/image" Target="../media/image-17-2.png"/><Relationship Id="rId4" Type="http://schemas.openxmlformats.org/officeDocument/2006/relationships/image" Target="../media/image-17-3.png"/><Relationship Id="rId6" Type="http://schemas.openxmlformats.org/officeDocument/2006/relationships/image" Target="../media/image-17-4.png"/><Relationship Id="rId7" Type="http://schemas.openxmlformats.org/officeDocument/2006/relationships/slideLayout" Target="../slideLayouts/slideLayout2.xml"/><Relationship Id="rId8"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ard"/>
          <p:cNvSpPr/>
          <p:nvPr/>
        </p:nvSpPr>
        <p:spPr>
          <a:xfrm>
            <a:off x="731520" y="685800"/>
            <a:ext cx="2606040" cy="960120"/>
          </a:xfrm>
          <a:prstGeom prst="roundRect">
            <a:avLst>
              <a:gd name="adj" fmla="val 7619"/>
            </a:avLst>
          </a:prstGeom>
          <a:solidFill>
            <a:schemeClr val="bg1"/>
          </a:solidFill>
          <a:ln/>
          <a:effectLst>
            <a:outerShdw sx="100000" sy="100000" kx="0" ky="0" algn="bl" rotWithShape="0" blurRad="101600" dist="25400" dir="5400000">
              <a:srgbClr val="1D2844">
                <a:alpha val="16000"/>
              </a:srgbClr>
            </a:outerShdw>
          </a:effectLst>
        </p:spPr>
      </p:sp>
      <p:pic>
        <p:nvPicPr>
          <p:cNvPr id="3" name="logo" descr="Justice for Fraud Victims Project logo">    </p:cNvPr>
          <p:cNvPicPr>
            <a:picLocks noChangeAspect="1"/>
          </p:cNvPicPr>
          <p:nvPr/>
        </p:nvPicPr>
        <p:blipFill>
          <a:blip r:embed="rId1"/>
          <a:stretch>
            <a:fillRect/>
          </a:stretch>
        </p:blipFill>
        <p:spPr>
          <a:xfrm>
            <a:off x="886968" y="768096"/>
            <a:ext cx="2088672" cy="674911"/>
          </a:xfrm>
          <a:prstGeom prst="rect">
            <a:avLst/>
          </a:prstGeom>
        </p:spPr>
      </p:pic>
      <p:sp>
        <p:nvSpPr>
          <p:cNvPr id="4" name="Text 0"/>
          <p:cNvSpPr/>
          <p:nvPr>
            <p:ph idx="100" type="title" hasCustomPrompt="1"/>
          </p:nvPr>
        </p:nvSpPr>
        <p:spPr>
          <a:xfrm>
            <a:off x="731520" y="2148840"/>
            <a:ext cx="5852160" cy="1371600"/>
          </a:xfrm>
          <a:prstGeom prst="rect">
            <a:avLst/>
          </a:prstGeom>
          <a:noFill/>
          <a:ln/>
        </p:spPr>
        <p:txBody>
          <a:bodyPr wrap="square" lIns="0" tIns="0" rIns="0" bIns="0" rtlCol="0" anchor="b"/>
          <a:lstStyle/>
          <a:p>
            <a:pPr algn="l" indent="0" marL="0">
              <a:buNone/>
            </a:pPr>
            <a:r>
              <a:rPr lang="en-US" sz="4600" i="1" dirty="0">
                <a:solidFill>
                  <a:schemeClr val="bg1"/>
                </a:solidFill>
                <a:latin typeface="Cambria" pitchFamily="34" charset="0"/>
                <a:ea typeface="Cambria" pitchFamily="34" charset="-122"/>
                <a:cs typeface="Cambria" pitchFamily="34" charset="-120"/>
              </a:rPr>
              <a:t>Bank Statement Analyzer</a:t>
            </a:r>
            <a:endParaRPr lang="en-US" sz="4600" dirty="0"/>
          </a:p>
        </p:txBody>
      </p:sp>
      <p:sp>
        <p:nvSpPr>
          <p:cNvPr id="5" name="Text 0"/>
          <p:cNvSpPr/>
          <p:nvPr>
            <p:ph idx="101" type="body" hasCustomPrompt="1"/>
          </p:nvPr>
        </p:nvSpPr>
        <p:spPr>
          <a:xfrm>
            <a:off x="731520" y="3611880"/>
            <a:ext cx="5669280" cy="914400"/>
          </a:xfrm>
          <a:prstGeom prst="rect">
            <a:avLst/>
          </a:prstGeom>
          <a:noFill/>
          <a:ln/>
        </p:spPr>
        <p:txBody>
          <a:bodyPr wrap="square" lIns="0" tIns="0" rIns="0" bIns="0" rtlCol="0" anchor="t"/>
          <a:lstStyle/>
          <a:p>
            <a:pPr indent="0" marL="0">
              <a:buNone/>
            </a:pPr>
            <a:r>
              <a:rPr lang="en-US" sz="2000" dirty="0">
                <a:solidFill>
                  <a:schemeClr val="accent4"/>
                </a:solidFill>
              </a:rPr>
              <a:t>From bank statement PDFs to forensic workpapers in minutes</a:t>
            </a:r>
            <a:endParaRPr lang="en-US" sz="2000" dirty="0"/>
          </a:p>
        </p:txBody>
      </p:sp>
      <p:sp>
        <p:nvSpPr>
          <p:cNvPr id="6" name="Text 0"/>
          <p:cNvSpPr/>
          <p:nvPr>
            <p:ph idx="102" type="body" hasCustomPrompt="1"/>
          </p:nvPr>
        </p:nvSpPr>
        <p:spPr>
          <a:xfrm>
            <a:off x="731520" y="5394960"/>
            <a:ext cx="5669280" cy="731520"/>
          </a:xfrm>
          <a:prstGeom prst="rect">
            <a:avLst/>
          </a:prstGeom>
          <a:noFill/>
          <a:ln/>
        </p:spPr>
        <p:txBody>
          <a:bodyPr wrap="square" lIns="0" tIns="0" rIns="0" bIns="0" rtlCol="0" anchor="t"/>
          <a:lstStyle/>
          <a:p>
            <a:pPr indent="0" marL="0">
              <a:buNone/>
            </a:pPr>
            <a:r>
              <a:rPr lang="en-US" sz="1500" dirty="0">
                <a:solidFill>
                  <a:schemeClr val="accent3"/>
                </a:solidFill>
              </a:rPr>
              <a:t>Webinar for accounting students</a:t>
            </a:r>
            <a:endParaRPr lang="en-US" sz="1500" dirty="0"/>
          </a:p>
          <a:p>
            <a:pPr indent="0" marL="0">
              <a:buNone/>
            </a:pPr>
            <a:r>
              <a:rPr lang="en-US" sz="1500" dirty="0">
                <a:solidFill>
                  <a:schemeClr val="accent3"/>
                </a:solidFill>
              </a:rPr>
              <a:t>November 6, 2026  ·  Justice for Fraud Victims Project</a:t>
            </a:r>
            <a:endParaRPr lang="en-US" sz="1500" dirty="0"/>
          </a:p>
        </p:txBody>
      </p:sp>
      <p:sp>
        <p:nvSpPr>
          <p:cNvPr id="7" name="home frame"/>
          <p:cNvSpPr/>
          <p:nvPr/>
        </p:nvSpPr>
        <p:spPr>
          <a:xfrm>
            <a:off x="6903720" y="1234440"/>
            <a:ext cx="4754880" cy="3543300"/>
          </a:xfrm>
          <a:prstGeom prst="roundRect">
            <a:avLst>
              <a:gd name="adj" fmla="val 2065"/>
            </a:avLst>
          </a:prstGeom>
          <a:solidFill>
            <a:schemeClr val="bg1"/>
          </a:solidFill>
          <a:ln/>
          <a:effectLst>
            <a:outerShdw sx="100000" sy="100000" kx="0" ky="0" algn="bl" rotWithShape="0" blurRad="101600" dist="25400" dir="5400000">
              <a:srgbClr val="1D2844">
                <a:alpha val="16000"/>
              </a:srgbClr>
            </a:outerShdw>
          </a:effectLst>
        </p:spPr>
      </p:sp>
      <p:pic>
        <p:nvPicPr>
          <p:cNvPr id="8" name="home screenshot" descr="The analyzer's home screen">    </p:cNvPr>
          <p:cNvPicPr>
            <a:picLocks noChangeAspect="1"/>
          </p:cNvPicPr>
          <p:nvPr/>
        </p:nvPicPr>
        <p:blipFill>
          <a:blip r:embed="rId2"/>
          <a:stretch>
            <a:fillRect/>
          </a:stretch>
        </p:blipFill>
        <p:spPr>
          <a:xfrm>
            <a:off x="6995160" y="1325880"/>
            <a:ext cx="4572000" cy="33604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Today's agenda</a:t>
            </a:r>
            <a:endParaRPr lang="en-US" sz="3000" dirty="0"/>
          </a:p>
        </p:txBody>
      </p:sp>
      <p:sp>
        <p:nvSpPr>
          <p:cNvPr id="3" name="agenda card 1"/>
          <p:cNvSpPr/>
          <p:nvPr/>
        </p:nvSpPr>
        <p:spPr>
          <a:xfrm>
            <a:off x="548640" y="1645920"/>
            <a:ext cx="2075688" cy="3840480"/>
          </a:xfrm>
          <a:prstGeom prst="roundRect">
            <a:avLst>
              <a:gd name="adj" fmla="val 3524"/>
            </a:avLst>
          </a:prstGeom>
          <a:solidFill>
            <a:schemeClr val="bg1"/>
          </a:solidFill>
          <a:ln/>
          <a:effectLst>
            <a:outerShdw sx="100000" sy="100000" kx="0" ky="0" algn="bl" rotWithShape="0" blurRad="101600" dist="25400" dir="5400000">
              <a:srgbClr val="1D2844">
                <a:alpha val="16000"/>
              </a:srgbClr>
            </a:outerShdw>
          </a:effectLst>
        </p:spPr>
      </p:sp>
      <p:sp>
        <p:nvSpPr>
          <p:cNvPr id="4" name="agenda number 1"/>
          <p:cNvSpPr txBox="1"/>
          <p:nvPr/>
        </p:nvSpPr>
        <p:spPr>
          <a:xfrm>
            <a:off x="822960" y="1920240"/>
            <a:ext cx="109728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01</a:t>
            </a:r>
            <a:endParaRPr lang="en-US" sz="4000" dirty="0"/>
          </a:p>
        </p:txBody>
      </p:sp>
      <p:sp>
        <p:nvSpPr>
          <p:cNvPr id="5" name="The problem circle"/>
          <p:cNvSpPr/>
          <p:nvPr/>
        </p:nvSpPr>
        <p:spPr>
          <a:xfrm>
            <a:off x="822960" y="2880360"/>
            <a:ext cx="640080" cy="640080"/>
          </a:xfrm>
          <a:prstGeom prst="ellipse">
            <a:avLst/>
          </a:prstGeom>
          <a:solidFill>
            <a:schemeClr val="accent2"/>
          </a:solidFill>
          <a:ln/>
        </p:spPr>
      </p:sp>
      <p:pic>
        <p:nvPicPr>
          <p:cNvPr id="6" name="The problem icon" descr="preencoded.png">    </p:cNvPr>
          <p:cNvPicPr>
            <a:picLocks noChangeAspect="1"/>
          </p:cNvPicPr>
          <p:nvPr/>
        </p:nvPicPr>
        <p:blipFill>
          <a:blip r:embed="rId1"/>
          <a:stretch>
            <a:fillRect/>
          </a:stretch>
        </p:blipFill>
        <p:spPr>
          <a:xfrm>
            <a:off x="982980" y="3040380"/>
            <a:ext cx="320040" cy="320040"/>
          </a:xfrm>
          <a:prstGeom prst="rect">
            <a:avLst/>
          </a:prstGeom>
        </p:spPr>
      </p:pic>
      <p:sp>
        <p:nvSpPr>
          <p:cNvPr id="7" name="agenda text 1"/>
          <p:cNvSpPr txBox="1"/>
          <p:nvPr/>
        </p:nvSpPr>
        <p:spPr>
          <a:xfrm>
            <a:off x="822960" y="3749040"/>
            <a:ext cx="1572768" cy="19202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The problem</a:t>
            </a:r>
            <a:endParaRPr lang="en-US" sz="1900" dirty="0"/>
          </a:p>
          <a:p>
            <a:pPr indent="0" marL="0">
              <a:spcAft>
                <a:spcPts val="600"/>
              </a:spcAft>
              <a:buNone/>
            </a:pPr>
            <a:r>
              <a:rPr lang="en-US" sz="1500" dirty="0">
                <a:solidFill>
                  <a:schemeClr val="tx2"/>
                </a:solidFill>
              </a:rPr>
              <a:t>Why reading statements by hand slows fraud work down</a:t>
            </a:r>
            <a:endParaRPr lang="en-US" sz="1900" dirty="0"/>
          </a:p>
        </p:txBody>
      </p:sp>
      <p:sp>
        <p:nvSpPr>
          <p:cNvPr id="8" name="agenda card 2"/>
          <p:cNvSpPr/>
          <p:nvPr/>
        </p:nvSpPr>
        <p:spPr>
          <a:xfrm>
            <a:off x="2807208" y="1645920"/>
            <a:ext cx="2075688" cy="3840480"/>
          </a:xfrm>
          <a:prstGeom prst="roundRect">
            <a:avLst>
              <a:gd name="adj" fmla="val 3524"/>
            </a:avLst>
          </a:prstGeom>
          <a:solidFill>
            <a:schemeClr val="bg1"/>
          </a:solidFill>
          <a:ln/>
          <a:effectLst>
            <a:outerShdw sx="100000" sy="100000" kx="0" ky="0" algn="bl" rotWithShape="0" blurRad="101600" dist="25400" dir="5400000">
              <a:srgbClr val="1D2844">
                <a:alpha val="16000"/>
              </a:srgbClr>
            </a:outerShdw>
          </a:effectLst>
        </p:spPr>
      </p:sp>
      <p:sp>
        <p:nvSpPr>
          <p:cNvPr id="9" name="agenda number 2"/>
          <p:cNvSpPr txBox="1"/>
          <p:nvPr/>
        </p:nvSpPr>
        <p:spPr>
          <a:xfrm>
            <a:off x="3081528" y="1920240"/>
            <a:ext cx="109728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02</a:t>
            </a:r>
            <a:endParaRPr lang="en-US" sz="4000" dirty="0"/>
          </a:p>
        </p:txBody>
      </p:sp>
      <p:sp>
        <p:nvSpPr>
          <p:cNvPr id="10" name="What the analyzer does circle"/>
          <p:cNvSpPr/>
          <p:nvPr/>
        </p:nvSpPr>
        <p:spPr>
          <a:xfrm>
            <a:off x="3081528" y="2880360"/>
            <a:ext cx="640080" cy="640080"/>
          </a:xfrm>
          <a:prstGeom prst="ellipse">
            <a:avLst/>
          </a:prstGeom>
          <a:solidFill>
            <a:schemeClr val="accent2"/>
          </a:solidFill>
          <a:ln/>
        </p:spPr>
      </p:sp>
      <p:pic>
        <p:nvPicPr>
          <p:cNvPr id="11" name="What the analyzer does icon" descr="preencoded.png">    </p:cNvPr>
          <p:cNvPicPr>
            <a:picLocks noChangeAspect="1"/>
          </p:cNvPicPr>
          <p:nvPr/>
        </p:nvPicPr>
        <p:blipFill>
          <a:blip r:embed="rId2"/>
          <a:stretch>
            <a:fillRect/>
          </a:stretch>
        </p:blipFill>
        <p:spPr>
          <a:xfrm>
            <a:off x="3241548" y="3040380"/>
            <a:ext cx="320040" cy="320040"/>
          </a:xfrm>
          <a:prstGeom prst="rect">
            <a:avLst/>
          </a:prstGeom>
        </p:spPr>
      </p:pic>
      <p:sp>
        <p:nvSpPr>
          <p:cNvPr id="12" name="agenda text 2"/>
          <p:cNvSpPr txBox="1"/>
          <p:nvPr/>
        </p:nvSpPr>
        <p:spPr>
          <a:xfrm>
            <a:off x="3081528" y="3749040"/>
            <a:ext cx="1572768" cy="19202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What the analyzer does</a:t>
            </a:r>
            <a:endParaRPr lang="en-US" sz="1900" dirty="0"/>
          </a:p>
          <a:p>
            <a:pPr indent="0" marL="0">
              <a:spcAft>
                <a:spcPts val="600"/>
              </a:spcAft>
              <a:buNone/>
            </a:pPr>
            <a:r>
              <a:rPr lang="en-US" sz="1500" dirty="0">
                <a:solidFill>
                  <a:schemeClr val="tx2"/>
                </a:solidFill>
              </a:rPr>
              <a:t>Read, check, flag and export, for any bank</a:t>
            </a:r>
            <a:endParaRPr lang="en-US" sz="1900" dirty="0"/>
          </a:p>
        </p:txBody>
      </p:sp>
      <p:sp>
        <p:nvSpPr>
          <p:cNvPr id="13" name="agenda card 3"/>
          <p:cNvSpPr/>
          <p:nvPr/>
        </p:nvSpPr>
        <p:spPr>
          <a:xfrm>
            <a:off x="5065776" y="1645920"/>
            <a:ext cx="2075688" cy="3840480"/>
          </a:xfrm>
          <a:prstGeom prst="roundRect">
            <a:avLst>
              <a:gd name="adj" fmla="val 3524"/>
            </a:avLst>
          </a:prstGeom>
          <a:solidFill>
            <a:schemeClr val="bg1"/>
          </a:solidFill>
          <a:ln/>
          <a:effectLst>
            <a:outerShdw sx="100000" sy="100000" kx="0" ky="0" algn="bl" rotWithShape="0" blurRad="101600" dist="25400" dir="5400000">
              <a:srgbClr val="1D2844">
                <a:alpha val="16000"/>
              </a:srgbClr>
            </a:outerShdw>
          </a:effectLst>
        </p:spPr>
      </p:sp>
      <p:sp>
        <p:nvSpPr>
          <p:cNvPr id="14" name="agenda number 3"/>
          <p:cNvSpPr txBox="1"/>
          <p:nvPr/>
        </p:nvSpPr>
        <p:spPr>
          <a:xfrm>
            <a:off x="5340096" y="1920240"/>
            <a:ext cx="109728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03</a:t>
            </a:r>
            <a:endParaRPr lang="en-US" sz="4000" dirty="0"/>
          </a:p>
        </p:txBody>
      </p:sp>
      <p:sp>
        <p:nvSpPr>
          <p:cNvPr id="15" name="Live demo circle"/>
          <p:cNvSpPr/>
          <p:nvPr/>
        </p:nvSpPr>
        <p:spPr>
          <a:xfrm>
            <a:off x="5340096" y="2880360"/>
            <a:ext cx="640080" cy="640080"/>
          </a:xfrm>
          <a:prstGeom prst="ellipse">
            <a:avLst/>
          </a:prstGeom>
          <a:solidFill>
            <a:schemeClr val="accent1"/>
          </a:solidFill>
          <a:ln/>
        </p:spPr>
      </p:sp>
      <p:pic>
        <p:nvPicPr>
          <p:cNvPr id="16" name="Live demo icon" descr="preencoded.png">    </p:cNvPr>
          <p:cNvPicPr>
            <a:picLocks noChangeAspect="1"/>
          </p:cNvPicPr>
          <p:nvPr/>
        </p:nvPicPr>
        <p:blipFill>
          <a:blip r:embed="rId3"/>
          <a:stretch>
            <a:fillRect/>
          </a:stretch>
        </p:blipFill>
        <p:spPr>
          <a:xfrm>
            <a:off x="5500116" y="3040380"/>
            <a:ext cx="320040" cy="320040"/>
          </a:xfrm>
          <a:prstGeom prst="rect">
            <a:avLst/>
          </a:prstGeom>
        </p:spPr>
      </p:pic>
      <p:sp>
        <p:nvSpPr>
          <p:cNvPr id="17" name="agenda text 3"/>
          <p:cNvSpPr txBox="1"/>
          <p:nvPr/>
        </p:nvSpPr>
        <p:spPr>
          <a:xfrm>
            <a:off x="5340096" y="3749040"/>
            <a:ext cx="1572768" cy="19202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Live demo</a:t>
            </a:r>
            <a:endParaRPr lang="en-US" sz="1900" dirty="0"/>
          </a:p>
          <a:p>
            <a:pPr indent="0" marL="0">
              <a:spcAft>
                <a:spcPts val="600"/>
              </a:spcAft>
              <a:buNone/>
            </a:pPr>
            <a:r>
              <a:rPr lang="en-US" sz="1500" dirty="0">
                <a:solidFill>
                  <a:schemeClr val="tx2"/>
                </a:solidFill>
              </a:rPr>
              <a:t>The Hartwell accounts, a fictional exploitation case</a:t>
            </a:r>
            <a:endParaRPr lang="en-US" sz="1900" dirty="0"/>
          </a:p>
        </p:txBody>
      </p:sp>
      <p:sp>
        <p:nvSpPr>
          <p:cNvPr id="18" name="agenda card 4"/>
          <p:cNvSpPr/>
          <p:nvPr/>
        </p:nvSpPr>
        <p:spPr>
          <a:xfrm>
            <a:off x="7324344" y="1645920"/>
            <a:ext cx="2075688" cy="3840480"/>
          </a:xfrm>
          <a:prstGeom prst="roundRect">
            <a:avLst>
              <a:gd name="adj" fmla="val 3524"/>
            </a:avLst>
          </a:prstGeom>
          <a:solidFill>
            <a:schemeClr val="bg1"/>
          </a:solidFill>
          <a:ln/>
          <a:effectLst>
            <a:outerShdw sx="100000" sy="100000" kx="0" ky="0" algn="bl" rotWithShape="0" blurRad="101600" dist="25400" dir="5400000">
              <a:srgbClr val="1D2844">
                <a:alpha val="16000"/>
              </a:srgbClr>
            </a:outerShdw>
          </a:effectLst>
        </p:spPr>
      </p:sp>
      <p:sp>
        <p:nvSpPr>
          <p:cNvPr id="19" name="agenda number 4"/>
          <p:cNvSpPr txBox="1"/>
          <p:nvPr/>
        </p:nvSpPr>
        <p:spPr>
          <a:xfrm>
            <a:off x="7598664" y="1920240"/>
            <a:ext cx="109728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04</a:t>
            </a:r>
            <a:endParaRPr lang="en-US" sz="4000" dirty="0"/>
          </a:p>
        </p:txBody>
      </p:sp>
      <p:sp>
        <p:nvSpPr>
          <p:cNvPr id="20" name="Privacy and evidence circle"/>
          <p:cNvSpPr/>
          <p:nvPr/>
        </p:nvSpPr>
        <p:spPr>
          <a:xfrm>
            <a:off x="7598664" y="2880360"/>
            <a:ext cx="640080" cy="640080"/>
          </a:xfrm>
          <a:prstGeom prst="ellipse">
            <a:avLst/>
          </a:prstGeom>
          <a:solidFill>
            <a:schemeClr val="accent2"/>
          </a:solidFill>
          <a:ln/>
        </p:spPr>
      </p:sp>
      <p:pic>
        <p:nvPicPr>
          <p:cNvPr id="21" name="Privacy and evidence icon" descr="preencoded.png">    </p:cNvPr>
          <p:cNvPicPr>
            <a:picLocks noChangeAspect="1"/>
          </p:cNvPicPr>
          <p:nvPr/>
        </p:nvPicPr>
        <p:blipFill>
          <a:blip r:embed="rId4"/>
          <a:stretch>
            <a:fillRect/>
          </a:stretch>
        </p:blipFill>
        <p:spPr>
          <a:xfrm>
            <a:off x="7758684" y="3040380"/>
            <a:ext cx="320040" cy="320040"/>
          </a:xfrm>
          <a:prstGeom prst="rect">
            <a:avLst/>
          </a:prstGeom>
        </p:spPr>
      </p:pic>
      <p:sp>
        <p:nvSpPr>
          <p:cNvPr id="22" name="agenda text 4"/>
          <p:cNvSpPr txBox="1"/>
          <p:nvPr/>
        </p:nvSpPr>
        <p:spPr>
          <a:xfrm>
            <a:off x="7598664" y="3749040"/>
            <a:ext cx="1572768" cy="19202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Privacy and evidence</a:t>
            </a:r>
            <a:endParaRPr lang="en-US" sz="1900" dirty="0"/>
          </a:p>
          <a:p>
            <a:pPr indent="0" marL="0">
              <a:spcAft>
                <a:spcPts val="600"/>
              </a:spcAft>
              <a:buNone/>
            </a:pPr>
            <a:r>
              <a:rPr lang="en-US" sz="1500" dirty="0">
                <a:solidFill>
                  <a:schemeClr val="tx2"/>
                </a:solidFill>
              </a:rPr>
              <a:t>Where statements go, and how findings hold up</a:t>
            </a:r>
            <a:endParaRPr lang="en-US" sz="1900" dirty="0"/>
          </a:p>
        </p:txBody>
      </p:sp>
      <p:sp>
        <p:nvSpPr>
          <p:cNvPr id="23" name="agenda card 5"/>
          <p:cNvSpPr/>
          <p:nvPr/>
        </p:nvSpPr>
        <p:spPr>
          <a:xfrm>
            <a:off x="9582912" y="1645920"/>
            <a:ext cx="2075688" cy="3840480"/>
          </a:xfrm>
          <a:prstGeom prst="roundRect">
            <a:avLst>
              <a:gd name="adj" fmla="val 3524"/>
            </a:avLst>
          </a:prstGeom>
          <a:solidFill>
            <a:schemeClr val="bg1"/>
          </a:solidFill>
          <a:ln/>
          <a:effectLst>
            <a:outerShdw sx="100000" sy="100000" kx="0" ky="0" algn="bl" rotWithShape="0" blurRad="101600" dist="25400" dir="5400000">
              <a:srgbClr val="1D2844">
                <a:alpha val="16000"/>
              </a:srgbClr>
            </a:outerShdw>
          </a:effectLst>
        </p:spPr>
      </p:sp>
      <p:sp>
        <p:nvSpPr>
          <p:cNvPr id="24" name="agenda number 5"/>
          <p:cNvSpPr txBox="1"/>
          <p:nvPr/>
        </p:nvSpPr>
        <p:spPr>
          <a:xfrm>
            <a:off x="9857232" y="1920240"/>
            <a:ext cx="109728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05</a:t>
            </a:r>
            <a:endParaRPr lang="en-US" sz="4000" dirty="0"/>
          </a:p>
        </p:txBody>
      </p:sp>
      <p:sp>
        <p:nvSpPr>
          <p:cNvPr id="25" name="Getting started circle"/>
          <p:cNvSpPr/>
          <p:nvPr/>
        </p:nvSpPr>
        <p:spPr>
          <a:xfrm>
            <a:off x="9857232" y="2880360"/>
            <a:ext cx="640080" cy="640080"/>
          </a:xfrm>
          <a:prstGeom prst="ellipse">
            <a:avLst/>
          </a:prstGeom>
          <a:solidFill>
            <a:schemeClr val="accent2"/>
          </a:solidFill>
          <a:ln/>
        </p:spPr>
      </p:sp>
      <p:pic>
        <p:nvPicPr>
          <p:cNvPr id="26" name="Getting started icon" descr="preencoded.png">    </p:cNvPr>
          <p:cNvPicPr>
            <a:picLocks noChangeAspect="1"/>
          </p:cNvPicPr>
          <p:nvPr/>
        </p:nvPicPr>
        <p:blipFill>
          <a:blip r:embed="rId5"/>
          <a:stretch>
            <a:fillRect/>
          </a:stretch>
        </p:blipFill>
        <p:spPr>
          <a:xfrm>
            <a:off x="10017252" y="3040380"/>
            <a:ext cx="320040" cy="320040"/>
          </a:xfrm>
          <a:prstGeom prst="rect">
            <a:avLst/>
          </a:prstGeom>
        </p:spPr>
      </p:pic>
      <p:sp>
        <p:nvSpPr>
          <p:cNvPr id="27" name="agenda text 5"/>
          <p:cNvSpPr txBox="1"/>
          <p:nvPr/>
        </p:nvSpPr>
        <p:spPr>
          <a:xfrm>
            <a:off x="9857232" y="3749040"/>
            <a:ext cx="1572768" cy="1920240"/>
          </a:xfrm>
          <a:prstGeom prst="rect">
            <a:avLst/>
          </a:prstGeom>
          <a:noFill/>
          <a:ln/>
        </p:spPr>
        <p:txBody>
          <a:bodyPr wrap="square" lIns="0" tIns="0" rIns="0" bIns="0" rtlCol="0" anchor="t"/>
          <a:lstStyle/>
          <a:p>
            <a:pPr indent="0" marL="0">
              <a:spcAft>
                <a:spcPts val="600"/>
              </a:spcAft>
              <a:buNone/>
            </a:pPr>
            <a:r>
              <a:rPr lang="en-US" sz="1900" b="1" dirty="0">
                <a:solidFill>
                  <a:schemeClr val="accent2"/>
                </a:solidFill>
              </a:rPr>
              <a:t>Getting started</a:t>
            </a:r>
            <a:endParaRPr lang="en-US" sz="1900" dirty="0"/>
          </a:p>
          <a:p>
            <a:pPr indent="0" marL="0">
              <a:spcAft>
                <a:spcPts val="600"/>
              </a:spcAft>
              <a:buNone/>
            </a:pPr>
            <a:r>
              <a:rPr lang="en-US" sz="1500" dirty="0">
                <a:solidFill>
                  <a:schemeClr val="tx2"/>
                </a:solidFill>
              </a:rPr>
              <a:t>Using it in class and hosting it at your school</a:t>
            </a:r>
            <a:endParaRPr lang="en-US" sz="19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Reading statements by hand is slow, and fraud hides in the volume</a:t>
            </a:r>
            <a:endParaRPr lang="en-US" sz="3000" dirty="0"/>
          </a:p>
        </p:txBody>
      </p:sp>
      <p:sp>
        <p:nvSpPr>
          <p:cNvPr id="3" name="problem card 1"/>
          <p:cNvSpPr/>
          <p:nvPr/>
        </p:nvSpPr>
        <p:spPr>
          <a:xfrm>
            <a:off x="548640" y="1508760"/>
            <a:ext cx="5440680" cy="2148840"/>
          </a:xfrm>
          <a:prstGeom prst="roundRect">
            <a:avLst>
              <a:gd name="adj" fmla="val 3404"/>
            </a:avLst>
          </a:prstGeom>
          <a:solidFill>
            <a:schemeClr val="bg1"/>
          </a:solidFill>
          <a:ln/>
          <a:effectLst>
            <a:outerShdw sx="100000" sy="100000" kx="0" ky="0" algn="bl" rotWithShape="0" blurRad="101600" dist="25400" dir="5400000">
              <a:srgbClr val="1D2844">
                <a:alpha val="16000"/>
              </a:srgbClr>
            </a:outerShdw>
          </a:effectLst>
        </p:spPr>
      </p:sp>
      <p:sp>
        <p:nvSpPr>
          <p:cNvPr id="4" name="Re-keying by hand circle"/>
          <p:cNvSpPr/>
          <p:nvPr/>
        </p:nvSpPr>
        <p:spPr>
          <a:xfrm>
            <a:off x="914400" y="2057400"/>
            <a:ext cx="777240" cy="777240"/>
          </a:xfrm>
          <a:prstGeom prst="ellipse">
            <a:avLst/>
          </a:prstGeom>
          <a:solidFill>
            <a:schemeClr val="accent2"/>
          </a:solidFill>
          <a:ln/>
        </p:spPr>
      </p:sp>
      <p:pic>
        <p:nvPicPr>
          <p:cNvPr id="5" name="Re-keying by hand icon" descr="preencoded.png">    </p:cNvPr>
          <p:cNvPicPr>
            <a:picLocks noChangeAspect="1"/>
          </p:cNvPicPr>
          <p:nvPr/>
        </p:nvPicPr>
        <p:blipFill>
          <a:blip r:embed="rId1"/>
          <a:stretch>
            <a:fillRect/>
          </a:stretch>
        </p:blipFill>
        <p:spPr>
          <a:xfrm>
            <a:off x="1108710" y="2251710"/>
            <a:ext cx="388620" cy="388620"/>
          </a:xfrm>
          <a:prstGeom prst="rect">
            <a:avLst/>
          </a:prstGeom>
        </p:spPr>
      </p:pic>
      <p:sp>
        <p:nvSpPr>
          <p:cNvPr id="6" name="Re-keying by hand text"/>
          <p:cNvSpPr txBox="1"/>
          <p:nvPr/>
        </p:nvSpPr>
        <p:spPr>
          <a:xfrm>
            <a:off x="1920240" y="2039112"/>
            <a:ext cx="3794760" cy="1298448"/>
          </a:xfrm>
          <a:prstGeom prst="rect">
            <a:avLst/>
          </a:prstGeom>
          <a:noFill/>
          <a:ln/>
        </p:spPr>
        <p:txBody>
          <a:bodyPr wrap="square" lIns="0" tIns="0" rIns="0" bIns="0" rtlCol="0" anchor="t"/>
          <a:lstStyle/>
          <a:p>
            <a:pPr indent="0" marL="0">
              <a:spcAft>
                <a:spcPts val="200"/>
              </a:spcAft>
              <a:buNone/>
            </a:pPr>
            <a:r>
              <a:rPr lang="en-US" sz="2100" b="1" dirty="0">
                <a:solidFill>
                  <a:schemeClr val="accent2"/>
                </a:solidFill>
              </a:rPr>
              <a:t>Re-keying by hand</a:t>
            </a:r>
            <a:endParaRPr lang="en-US" sz="2100" dirty="0"/>
          </a:p>
          <a:p>
            <a:pPr indent="0" marL="0">
              <a:spcAft>
                <a:spcPts val="200"/>
              </a:spcAft>
              <a:buNone/>
            </a:pPr>
            <a:r>
              <a:rPr lang="en-US" sz="1700" dirty="0">
                <a:solidFill>
                  <a:schemeClr val="tx2"/>
                </a:solidFill>
              </a:rPr>
              <a:t>Hours spent typing transactions into spreadsheets, where one typo breaks the trail.</a:t>
            </a:r>
            <a:endParaRPr lang="en-US" sz="2100" dirty="0"/>
          </a:p>
        </p:txBody>
      </p:sp>
      <p:sp>
        <p:nvSpPr>
          <p:cNvPr id="7" name="problem card 2"/>
          <p:cNvSpPr/>
          <p:nvPr/>
        </p:nvSpPr>
        <p:spPr>
          <a:xfrm>
            <a:off x="6172200" y="1508760"/>
            <a:ext cx="5440680" cy="2148840"/>
          </a:xfrm>
          <a:prstGeom prst="roundRect">
            <a:avLst>
              <a:gd name="adj" fmla="val 3404"/>
            </a:avLst>
          </a:prstGeom>
          <a:solidFill>
            <a:schemeClr val="bg1"/>
          </a:solidFill>
          <a:ln/>
          <a:effectLst>
            <a:outerShdw sx="100000" sy="100000" kx="0" ky="0" algn="bl" rotWithShape="0" blurRad="101600" dist="25400" dir="5400000">
              <a:srgbClr val="1D2844">
                <a:alpha val="16000"/>
              </a:srgbClr>
            </a:outerShdw>
          </a:effectLst>
        </p:spPr>
      </p:sp>
      <p:sp>
        <p:nvSpPr>
          <p:cNvPr id="8" name="Every bank looks different circle"/>
          <p:cNvSpPr/>
          <p:nvPr/>
        </p:nvSpPr>
        <p:spPr>
          <a:xfrm>
            <a:off x="6537960" y="2057400"/>
            <a:ext cx="777240" cy="777240"/>
          </a:xfrm>
          <a:prstGeom prst="ellipse">
            <a:avLst/>
          </a:prstGeom>
          <a:solidFill>
            <a:schemeClr val="accent2"/>
          </a:solidFill>
          <a:ln/>
        </p:spPr>
      </p:sp>
      <p:pic>
        <p:nvPicPr>
          <p:cNvPr id="9" name="Every bank looks different icon" descr="preencoded.png">    </p:cNvPr>
          <p:cNvPicPr>
            <a:picLocks noChangeAspect="1"/>
          </p:cNvPicPr>
          <p:nvPr/>
        </p:nvPicPr>
        <p:blipFill>
          <a:blip r:embed="rId2"/>
          <a:stretch>
            <a:fillRect/>
          </a:stretch>
        </p:blipFill>
        <p:spPr>
          <a:xfrm>
            <a:off x="6732270" y="2251710"/>
            <a:ext cx="388620" cy="388620"/>
          </a:xfrm>
          <a:prstGeom prst="rect">
            <a:avLst/>
          </a:prstGeom>
        </p:spPr>
      </p:pic>
      <p:sp>
        <p:nvSpPr>
          <p:cNvPr id="10" name="Every bank looks different text"/>
          <p:cNvSpPr txBox="1"/>
          <p:nvPr/>
        </p:nvSpPr>
        <p:spPr>
          <a:xfrm>
            <a:off x="7543800" y="2039112"/>
            <a:ext cx="3794760" cy="1298448"/>
          </a:xfrm>
          <a:prstGeom prst="rect">
            <a:avLst/>
          </a:prstGeom>
          <a:noFill/>
          <a:ln/>
        </p:spPr>
        <p:txBody>
          <a:bodyPr wrap="square" lIns="0" tIns="0" rIns="0" bIns="0" rtlCol="0" anchor="t"/>
          <a:lstStyle/>
          <a:p>
            <a:pPr indent="0" marL="0">
              <a:spcAft>
                <a:spcPts val="200"/>
              </a:spcAft>
              <a:buNone/>
            </a:pPr>
            <a:r>
              <a:rPr lang="en-US" sz="2100" b="1" dirty="0">
                <a:solidFill>
                  <a:schemeClr val="accent2"/>
                </a:solidFill>
              </a:rPr>
              <a:t>Every bank looks different</a:t>
            </a:r>
            <a:endParaRPr lang="en-US" sz="2100" dirty="0"/>
          </a:p>
          <a:p>
            <a:pPr indent="0" marL="0">
              <a:spcAft>
                <a:spcPts val="200"/>
              </a:spcAft>
              <a:buNone/>
            </a:pPr>
            <a:r>
              <a:rPr lang="en-US" sz="1700" dirty="0">
                <a:solidFill>
                  <a:schemeClr val="tx2"/>
                </a:solidFill>
              </a:rPr>
              <a:t>Different layouts, scanned pages, redactions, checking and credit cards in one case.</a:t>
            </a:r>
            <a:endParaRPr lang="en-US" sz="2100" dirty="0"/>
          </a:p>
        </p:txBody>
      </p:sp>
      <p:sp>
        <p:nvSpPr>
          <p:cNvPr id="11" name="problem card 3"/>
          <p:cNvSpPr/>
          <p:nvPr/>
        </p:nvSpPr>
        <p:spPr>
          <a:xfrm>
            <a:off x="548640" y="3886200"/>
            <a:ext cx="5440680" cy="2148840"/>
          </a:xfrm>
          <a:prstGeom prst="roundRect">
            <a:avLst>
              <a:gd name="adj" fmla="val 3404"/>
            </a:avLst>
          </a:prstGeom>
          <a:solidFill>
            <a:schemeClr val="bg1"/>
          </a:solidFill>
          <a:ln/>
          <a:effectLst>
            <a:outerShdw sx="100000" sy="100000" kx="0" ky="0" algn="bl" rotWithShape="0" blurRad="101600" dist="25400" dir="5400000">
              <a:srgbClr val="1D2844">
                <a:alpha val="16000"/>
              </a:srgbClr>
            </a:outerShdw>
          </a:effectLst>
        </p:spPr>
      </p:sp>
      <p:sp>
        <p:nvSpPr>
          <p:cNvPr id="12" name="Fraud spreads across months circle"/>
          <p:cNvSpPr/>
          <p:nvPr/>
        </p:nvSpPr>
        <p:spPr>
          <a:xfrm>
            <a:off x="914400" y="4434840"/>
            <a:ext cx="777240" cy="777240"/>
          </a:xfrm>
          <a:prstGeom prst="ellipse">
            <a:avLst/>
          </a:prstGeom>
          <a:solidFill>
            <a:schemeClr val="accent2"/>
          </a:solidFill>
          <a:ln/>
        </p:spPr>
      </p:sp>
      <p:pic>
        <p:nvPicPr>
          <p:cNvPr id="13" name="Fraud spreads across months icon" descr="preencoded.png">    </p:cNvPr>
          <p:cNvPicPr>
            <a:picLocks noChangeAspect="1"/>
          </p:cNvPicPr>
          <p:nvPr/>
        </p:nvPicPr>
        <p:blipFill>
          <a:blip r:embed="rId3"/>
          <a:stretch>
            <a:fillRect/>
          </a:stretch>
        </p:blipFill>
        <p:spPr>
          <a:xfrm>
            <a:off x="1108710" y="4629150"/>
            <a:ext cx="388620" cy="388620"/>
          </a:xfrm>
          <a:prstGeom prst="rect">
            <a:avLst/>
          </a:prstGeom>
        </p:spPr>
      </p:pic>
      <p:sp>
        <p:nvSpPr>
          <p:cNvPr id="14" name="Fraud spreads across months text"/>
          <p:cNvSpPr txBox="1"/>
          <p:nvPr/>
        </p:nvSpPr>
        <p:spPr>
          <a:xfrm>
            <a:off x="1920240" y="4416552"/>
            <a:ext cx="3794760" cy="1298448"/>
          </a:xfrm>
          <a:prstGeom prst="rect">
            <a:avLst/>
          </a:prstGeom>
          <a:noFill/>
          <a:ln/>
        </p:spPr>
        <p:txBody>
          <a:bodyPr wrap="square" lIns="0" tIns="0" rIns="0" bIns="0" rtlCol="0" anchor="t"/>
          <a:lstStyle/>
          <a:p>
            <a:pPr indent="0" marL="0">
              <a:spcAft>
                <a:spcPts val="200"/>
              </a:spcAft>
              <a:buNone/>
            </a:pPr>
            <a:r>
              <a:rPr lang="en-US" sz="2100" b="1" dirty="0">
                <a:solidFill>
                  <a:schemeClr val="accent2"/>
                </a:solidFill>
              </a:rPr>
              <a:t>Fraud spreads across months</a:t>
            </a:r>
            <a:endParaRPr lang="en-US" sz="2100" dirty="0"/>
          </a:p>
          <a:p>
            <a:pPr indent="0" marL="0">
              <a:spcAft>
                <a:spcPts val="200"/>
              </a:spcAft>
              <a:buNone/>
            </a:pPr>
            <a:r>
              <a:rPr lang="en-US" sz="1700" dirty="0">
                <a:solidFill>
                  <a:schemeClr val="tx2"/>
                </a:solidFill>
              </a:rPr>
              <a:t>Patterns like cash kept under $10,000 only show when months sit side by side.</a:t>
            </a:r>
            <a:endParaRPr lang="en-US" sz="2100" dirty="0"/>
          </a:p>
        </p:txBody>
      </p:sp>
      <p:sp>
        <p:nvSpPr>
          <p:cNvPr id="15" name="problem card 4"/>
          <p:cNvSpPr/>
          <p:nvPr/>
        </p:nvSpPr>
        <p:spPr>
          <a:xfrm>
            <a:off x="6172200" y="3886200"/>
            <a:ext cx="5440680" cy="2148840"/>
          </a:xfrm>
          <a:prstGeom prst="roundRect">
            <a:avLst>
              <a:gd name="adj" fmla="val 3404"/>
            </a:avLst>
          </a:prstGeom>
          <a:solidFill>
            <a:schemeClr val="bg1"/>
          </a:solidFill>
          <a:ln/>
          <a:effectLst>
            <a:outerShdw sx="100000" sy="100000" kx="0" ky="0" algn="bl" rotWithShape="0" blurRad="101600" dist="25400" dir="5400000">
              <a:srgbClr val="1D2844">
                <a:alpha val="16000"/>
              </a:srgbClr>
            </a:outerShdw>
          </a:effectLst>
        </p:spPr>
      </p:sp>
      <p:sp>
        <p:nvSpPr>
          <p:cNvPr id="16" name="Statements can be edited circle"/>
          <p:cNvSpPr/>
          <p:nvPr/>
        </p:nvSpPr>
        <p:spPr>
          <a:xfrm>
            <a:off x="6537960" y="4434840"/>
            <a:ext cx="777240" cy="777240"/>
          </a:xfrm>
          <a:prstGeom prst="ellipse">
            <a:avLst/>
          </a:prstGeom>
          <a:solidFill>
            <a:schemeClr val="accent2"/>
          </a:solidFill>
          <a:ln/>
        </p:spPr>
      </p:sp>
      <p:pic>
        <p:nvPicPr>
          <p:cNvPr id="17" name="Statements can be edited icon" descr="preencoded.png">    </p:cNvPr>
          <p:cNvPicPr>
            <a:picLocks noChangeAspect="1"/>
          </p:cNvPicPr>
          <p:nvPr/>
        </p:nvPicPr>
        <p:blipFill>
          <a:blip r:embed="rId4"/>
          <a:stretch>
            <a:fillRect/>
          </a:stretch>
        </p:blipFill>
        <p:spPr>
          <a:xfrm>
            <a:off x="6732270" y="4629150"/>
            <a:ext cx="388620" cy="388620"/>
          </a:xfrm>
          <a:prstGeom prst="rect">
            <a:avLst/>
          </a:prstGeom>
        </p:spPr>
      </p:pic>
      <p:sp>
        <p:nvSpPr>
          <p:cNvPr id="18" name="Statements can be edited text"/>
          <p:cNvSpPr txBox="1"/>
          <p:nvPr/>
        </p:nvSpPr>
        <p:spPr>
          <a:xfrm>
            <a:off x="7543800" y="4416552"/>
            <a:ext cx="3794760" cy="1298448"/>
          </a:xfrm>
          <a:prstGeom prst="rect">
            <a:avLst/>
          </a:prstGeom>
          <a:noFill/>
          <a:ln/>
        </p:spPr>
        <p:txBody>
          <a:bodyPr wrap="square" lIns="0" tIns="0" rIns="0" bIns="0" rtlCol="0" anchor="t"/>
          <a:lstStyle/>
          <a:p>
            <a:pPr indent="0" marL="0">
              <a:spcAft>
                <a:spcPts val="200"/>
              </a:spcAft>
              <a:buNone/>
            </a:pPr>
            <a:r>
              <a:rPr lang="en-US" sz="2100" b="1" dirty="0">
                <a:solidFill>
                  <a:schemeClr val="accent2"/>
                </a:solidFill>
              </a:rPr>
              <a:t>Statements can be edited</a:t>
            </a:r>
            <a:endParaRPr lang="en-US" sz="2100" dirty="0"/>
          </a:p>
          <a:p>
            <a:pPr indent="0" marL="0">
              <a:spcAft>
                <a:spcPts val="200"/>
              </a:spcAft>
              <a:buNone/>
            </a:pPr>
            <a:r>
              <a:rPr lang="en-US" sz="1700" dirty="0">
                <a:solidFill>
                  <a:schemeClr val="tx2"/>
                </a:solidFill>
              </a:rPr>
              <a:t>PDF editors make an altered copy look genuine to the eye.</a:t>
            </a:r>
            <a:endParaRPr lang="en-US" sz="2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The analyzer reads, checks, flags and exports</a:t>
            </a:r>
            <a:endParaRPr lang="en-US" sz="3000" dirty="0"/>
          </a:p>
        </p:txBody>
      </p:sp>
      <p:sp>
        <p:nvSpPr>
          <p:cNvPr id="3" name="Reads any bank circle"/>
          <p:cNvSpPr/>
          <p:nvPr/>
        </p:nvSpPr>
        <p:spPr>
          <a:xfrm>
            <a:off x="548640" y="1554480"/>
            <a:ext cx="621792" cy="621792"/>
          </a:xfrm>
          <a:prstGeom prst="ellipse">
            <a:avLst/>
          </a:prstGeom>
          <a:solidFill>
            <a:schemeClr val="accent2"/>
          </a:solidFill>
          <a:ln/>
        </p:spPr>
      </p:sp>
      <p:pic>
        <p:nvPicPr>
          <p:cNvPr id="4" name="Reads any bank icon" descr="preencoded.png">    </p:cNvPr>
          <p:cNvPicPr>
            <a:picLocks noChangeAspect="1"/>
          </p:cNvPicPr>
          <p:nvPr/>
        </p:nvPicPr>
        <p:blipFill>
          <a:blip r:embed="rId1"/>
          <a:stretch>
            <a:fillRect/>
          </a:stretch>
        </p:blipFill>
        <p:spPr>
          <a:xfrm>
            <a:off x="704088" y="1709928"/>
            <a:ext cx="310896" cy="310896"/>
          </a:xfrm>
          <a:prstGeom prst="rect">
            <a:avLst/>
          </a:prstGeom>
        </p:spPr>
      </p:pic>
      <p:sp>
        <p:nvSpPr>
          <p:cNvPr id="5" name="Reads any bank text"/>
          <p:cNvSpPr txBox="1"/>
          <p:nvPr/>
        </p:nvSpPr>
        <p:spPr>
          <a:xfrm>
            <a:off x="1399032" y="1536192"/>
            <a:ext cx="4270248" cy="109728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Reads any bank</a:t>
            </a:r>
            <a:endParaRPr lang="en-US" sz="1700" dirty="0"/>
          </a:p>
          <a:p>
            <a:pPr indent="0" marL="0">
              <a:spcAft>
                <a:spcPts val="200"/>
              </a:spcAft>
              <a:buNone/>
            </a:pPr>
            <a:r>
              <a:rPr lang="en-US" sz="1400" dirty="0">
                <a:solidFill>
                  <a:schemeClr val="tx2"/>
                </a:solidFill>
              </a:rPr>
              <a:t>Online-banking PDFs, scans and redacted copies; no template to set up.</a:t>
            </a:r>
            <a:endParaRPr lang="en-US" sz="1700" dirty="0"/>
          </a:p>
        </p:txBody>
      </p:sp>
      <p:sp>
        <p:nvSpPr>
          <p:cNvPr id="6" name="Checks the math circle"/>
          <p:cNvSpPr/>
          <p:nvPr/>
        </p:nvSpPr>
        <p:spPr>
          <a:xfrm>
            <a:off x="548640" y="2724912"/>
            <a:ext cx="621792" cy="621792"/>
          </a:xfrm>
          <a:prstGeom prst="ellipse">
            <a:avLst/>
          </a:prstGeom>
          <a:solidFill>
            <a:schemeClr val="accent2"/>
          </a:solidFill>
          <a:ln/>
        </p:spPr>
      </p:sp>
      <p:pic>
        <p:nvPicPr>
          <p:cNvPr id="7" name="Checks the math icon" descr="preencoded.png">    </p:cNvPr>
          <p:cNvPicPr>
            <a:picLocks noChangeAspect="1"/>
          </p:cNvPicPr>
          <p:nvPr/>
        </p:nvPicPr>
        <p:blipFill>
          <a:blip r:embed="rId2"/>
          <a:stretch>
            <a:fillRect/>
          </a:stretch>
        </p:blipFill>
        <p:spPr>
          <a:xfrm>
            <a:off x="704088" y="2880360"/>
            <a:ext cx="310896" cy="310896"/>
          </a:xfrm>
          <a:prstGeom prst="rect">
            <a:avLst/>
          </a:prstGeom>
        </p:spPr>
      </p:pic>
      <p:sp>
        <p:nvSpPr>
          <p:cNvPr id="8" name="Checks the math text"/>
          <p:cNvSpPr txBox="1"/>
          <p:nvPr/>
        </p:nvSpPr>
        <p:spPr>
          <a:xfrm>
            <a:off x="1399032" y="2706624"/>
            <a:ext cx="4270248" cy="109728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Checks the math</a:t>
            </a:r>
            <a:endParaRPr lang="en-US" sz="1700" dirty="0"/>
          </a:p>
          <a:p>
            <a:pPr indent="0" marL="0">
              <a:spcAft>
                <a:spcPts val="200"/>
              </a:spcAft>
              <a:buNone/>
            </a:pPr>
            <a:r>
              <a:rPr lang="en-US" sz="1400" dirty="0">
                <a:solidFill>
                  <a:schemeClr val="tx2"/>
                </a:solidFill>
              </a:rPr>
              <a:t>Each statement is reconciled against its own printed balances and totals.</a:t>
            </a:r>
            <a:endParaRPr lang="en-US" sz="1700" dirty="0"/>
          </a:p>
        </p:txBody>
      </p:sp>
      <p:sp>
        <p:nvSpPr>
          <p:cNvPr id="9" name="Spots red flags circle"/>
          <p:cNvSpPr/>
          <p:nvPr/>
        </p:nvSpPr>
        <p:spPr>
          <a:xfrm>
            <a:off x="548640" y="3895344"/>
            <a:ext cx="621792" cy="621792"/>
          </a:xfrm>
          <a:prstGeom prst="ellipse">
            <a:avLst/>
          </a:prstGeom>
          <a:solidFill>
            <a:schemeClr val="accent2"/>
          </a:solidFill>
          <a:ln/>
        </p:spPr>
      </p:sp>
      <p:pic>
        <p:nvPicPr>
          <p:cNvPr id="10" name="Spots red flags icon" descr="preencoded.png">    </p:cNvPr>
          <p:cNvPicPr>
            <a:picLocks noChangeAspect="1"/>
          </p:cNvPicPr>
          <p:nvPr/>
        </p:nvPicPr>
        <p:blipFill>
          <a:blip r:embed="rId3"/>
          <a:stretch>
            <a:fillRect/>
          </a:stretch>
        </p:blipFill>
        <p:spPr>
          <a:xfrm>
            <a:off x="704088" y="4050792"/>
            <a:ext cx="310896" cy="310896"/>
          </a:xfrm>
          <a:prstGeom prst="rect">
            <a:avLst/>
          </a:prstGeom>
        </p:spPr>
      </p:pic>
      <p:sp>
        <p:nvSpPr>
          <p:cNvPr id="11" name="Spots red flags text"/>
          <p:cNvSpPr txBox="1"/>
          <p:nvPr/>
        </p:nvSpPr>
        <p:spPr>
          <a:xfrm>
            <a:off x="1399032" y="3877056"/>
            <a:ext cx="4270248" cy="109728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Spots red flags</a:t>
            </a:r>
            <a:endParaRPr lang="en-US" sz="1700" dirty="0"/>
          </a:p>
          <a:p>
            <a:pPr indent="0" marL="0">
              <a:spcAft>
                <a:spcPts val="200"/>
              </a:spcAft>
              <a:buNone/>
            </a:pPr>
            <a:r>
              <a:rPr lang="en-US" sz="1400" dirty="0">
                <a:solidFill>
                  <a:schemeClr val="tx2"/>
                </a:solidFill>
              </a:rPr>
              <a:t>Structuring, new payees, cash spikes, gambling, gift cards, signs of editing.</a:t>
            </a:r>
            <a:endParaRPr lang="en-US" sz="1700" dirty="0"/>
          </a:p>
        </p:txBody>
      </p:sp>
      <p:sp>
        <p:nvSpPr>
          <p:cNvPr id="12" name="Exports workpapers circle"/>
          <p:cNvSpPr/>
          <p:nvPr/>
        </p:nvSpPr>
        <p:spPr>
          <a:xfrm>
            <a:off x="548640" y="5065776"/>
            <a:ext cx="621792" cy="621792"/>
          </a:xfrm>
          <a:prstGeom prst="ellipse">
            <a:avLst/>
          </a:prstGeom>
          <a:solidFill>
            <a:schemeClr val="accent2"/>
          </a:solidFill>
          <a:ln/>
        </p:spPr>
      </p:sp>
      <p:pic>
        <p:nvPicPr>
          <p:cNvPr id="13" name="Exports workpapers icon" descr="preencoded.png">    </p:cNvPr>
          <p:cNvPicPr>
            <a:picLocks noChangeAspect="1"/>
          </p:cNvPicPr>
          <p:nvPr/>
        </p:nvPicPr>
        <p:blipFill>
          <a:blip r:embed="rId4"/>
          <a:stretch>
            <a:fillRect/>
          </a:stretch>
        </p:blipFill>
        <p:spPr>
          <a:xfrm>
            <a:off x="704088" y="5221224"/>
            <a:ext cx="310896" cy="310896"/>
          </a:xfrm>
          <a:prstGeom prst="rect">
            <a:avLst/>
          </a:prstGeom>
        </p:spPr>
      </p:pic>
      <p:sp>
        <p:nvSpPr>
          <p:cNvPr id="14" name="Exports workpapers text"/>
          <p:cNvSpPr txBox="1"/>
          <p:nvPr/>
        </p:nvSpPr>
        <p:spPr>
          <a:xfrm>
            <a:off x="1399032" y="5047488"/>
            <a:ext cx="4270248" cy="1097280"/>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Exports workpapers</a:t>
            </a:r>
            <a:endParaRPr lang="en-US" sz="1700" dirty="0"/>
          </a:p>
          <a:p>
            <a:pPr indent="0" marL="0">
              <a:spcAft>
                <a:spcPts val="200"/>
              </a:spcAft>
              <a:buNone/>
            </a:pPr>
            <a:r>
              <a:rPr lang="en-US" sz="1400" dirty="0">
                <a:solidFill>
                  <a:schemeClr val="tx2"/>
                </a:solidFill>
              </a:rPr>
              <a:t>An Excel workpaper and financial statements, ready for review.</a:t>
            </a:r>
            <a:endParaRPr lang="en-US" sz="1700" dirty="0"/>
          </a:p>
        </p:txBody>
      </p:sp>
      <p:sp>
        <p:nvSpPr>
          <p:cNvPr id="15" name="home frame"/>
          <p:cNvSpPr/>
          <p:nvPr/>
        </p:nvSpPr>
        <p:spPr>
          <a:xfrm>
            <a:off x="5989320" y="1417320"/>
            <a:ext cx="5650992" cy="4201942"/>
          </a:xfrm>
          <a:prstGeom prst="roundRect">
            <a:avLst>
              <a:gd name="adj" fmla="val 1741"/>
            </a:avLst>
          </a:prstGeom>
          <a:solidFill>
            <a:schemeClr val="bg1"/>
          </a:solidFill>
          <a:ln/>
          <a:effectLst>
            <a:outerShdw sx="100000" sy="100000" kx="0" ky="0" algn="bl" rotWithShape="0" blurRad="101600" dist="25400" dir="5400000">
              <a:srgbClr val="1D2844">
                <a:alpha val="16000"/>
              </a:srgbClr>
            </a:outerShdw>
          </a:effectLst>
        </p:spPr>
      </p:sp>
      <p:pic>
        <p:nvPicPr>
          <p:cNvPr id="16" name="home screenshot" descr="The analyzer's home screen with the four steps">    </p:cNvPr>
          <p:cNvPicPr>
            <a:picLocks noChangeAspect="1"/>
          </p:cNvPicPr>
          <p:nvPr/>
        </p:nvPicPr>
        <p:blipFill>
          <a:blip r:embed="rId5"/>
          <a:stretch>
            <a:fillRect/>
          </a:stretch>
        </p:blipFill>
        <p:spPr>
          <a:xfrm>
            <a:off x="6080760" y="1508760"/>
            <a:ext cx="5468112" cy="4019062"/>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6400800" cy="1188720"/>
          </a:xfrm>
          <a:prstGeom prst="rect">
            <a:avLst/>
          </a:prstGeom>
          <a:noFill/>
          <a:ln/>
        </p:spPr>
        <p:txBody>
          <a:bodyPr wrap="square" lIns="0" tIns="0" rIns="0" bIns="0" rtlCol="0" anchor="b"/>
          <a:lstStyle/>
          <a:p>
            <a:pPr algn="l" indent="0" marL="0">
              <a:buNone/>
            </a:pPr>
            <a:r>
              <a:rPr lang="en-US" sz="4400" i="1" dirty="0">
                <a:solidFill>
                  <a:schemeClr val="bg1"/>
                </a:solidFill>
                <a:latin typeface="Cambria" pitchFamily="34" charset="0"/>
                <a:ea typeface="Cambria" pitchFamily="34" charset="-122"/>
                <a:cs typeface="Cambria" pitchFamily="34" charset="-120"/>
              </a:rPr>
              <a:t>Live demo</a:t>
            </a:r>
            <a:endParaRPr lang="en-US" sz="4400" dirty="0"/>
          </a:p>
        </p:txBody>
      </p:sp>
      <p:sp>
        <p:nvSpPr>
          <p:cNvPr id="3" name="Text 0"/>
          <p:cNvSpPr/>
          <p:nvPr>
            <p:ph idx="101" type="body" hasCustomPrompt="1"/>
          </p:nvPr>
        </p:nvSpPr>
        <p:spPr>
          <a:xfrm>
            <a:off x="731520" y="3611880"/>
            <a:ext cx="6400800" cy="1280160"/>
          </a:xfrm>
          <a:prstGeom prst="rect">
            <a:avLst/>
          </a:prstGeom>
          <a:noFill/>
          <a:ln/>
        </p:spPr>
        <p:txBody>
          <a:bodyPr wrap="square" lIns="0" tIns="0" rIns="0" bIns="0" rtlCol="0" anchor="t"/>
          <a:lstStyle/>
          <a:p>
            <a:pPr indent="0" marL="0">
              <a:buNone/>
            </a:pPr>
            <a:r>
              <a:rPr lang="en-US" sz="2000" dirty="0">
                <a:solidFill>
                  <a:schemeClr val="accent4"/>
                </a:solidFill>
              </a:rPr>
              <a:t>The Hartwell accounts: a fictional case of elder financial exploitation</a:t>
            </a:r>
            <a:endParaRPr lang="en-US" sz="2000" dirty="0"/>
          </a:p>
        </p:txBody>
      </p:sp>
      <p:sp>
        <p:nvSpPr>
          <p:cNvPr id="4" name="demo circle"/>
          <p:cNvSpPr/>
          <p:nvPr/>
        </p:nvSpPr>
        <p:spPr>
          <a:xfrm>
            <a:off x="8778240" y="2011680"/>
            <a:ext cx="2194560" cy="2194560"/>
          </a:xfrm>
          <a:prstGeom prst="ellipse">
            <a:avLst/>
          </a:prstGeom>
          <a:solidFill>
            <a:schemeClr val="accent1"/>
          </a:solidFill>
          <a:ln/>
        </p:spPr>
      </p:sp>
      <p:pic>
        <p:nvPicPr>
          <p:cNvPr id="5" name="demo icon" descr="preencoded.png">    </p:cNvPr>
          <p:cNvPicPr>
            <a:picLocks noChangeAspect="1"/>
          </p:cNvPicPr>
          <p:nvPr/>
        </p:nvPicPr>
        <p:blipFill>
          <a:blip r:embed="rId1"/>
          <a:stretch>
            <a:fillRect/>
          </a:stretch>
        </p:blipFill>
        <p:spPr>
          <a:xfrm>
            <a:off x="9326880" y="2560320"/>
            <a:ext cx="1097280" cy="1097280"/>
          </a:xfrm>
          <a:prstGeom prst="rect">
            <a:avLst/>
          </a:prstGeom>
        </p:spPr>
      </p:pic>
      <p:sp>
        <p:nvSpPr>
          <p:cNvPr id="6" name="fictional note"/>
          <p:cNvSpPr txBox="1"/>
          <p:nvPr/>
        </p:nvSpPr>
        <p:spPr>
          <a:xfrm>
            <a:off x="731520" y="5120640"/>
            <a:ext cx="6400800" cy="457200"/>
          </a:xfrm>
          <a:prstGeom prst="rect">
            <a:avLst/>
          </a:prstGeom>
          <a:noFill/>
          <a:ln/>
        </p:spPr>
        <p:txBody>
          <a:bodyPr wrap="square" lIns="0" tIns="0" rIns="0" bIns="0" rtlCol="0" anchor="t"/>
          <a:lstStyle/>
          <a:p>
            <a:pPr indent="0" marL="0">
              <a:buNone/>
            </a:pPr>
            <a:r>
              <a:rPr lang="en-US" sz="1400" i="1" dirty="0">
                <a:solidFill>
                  <a:schemeClr val="accent3"/>
                </a:solidFill>
              </a:rPr>
              <a:t>Every name, bank and transaction in the demo is fictional.</a:t>
            </a:r>
            <a:endParaRPr lang="en-US" sz="14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The case: three months, one caregiver</a:t>
            </a:r>
            <a:endParaRPr lang="en-US" sz="3000" dirty="0"/>
          </a:p>
        </p:txBody>
      </p:sp>
      <p:sp>
        <p:nvSpPr>
          <p:cNvPr id="3" name="case intro"/>
          <p:cNvSpPr txBox="1"/>
          <p:nvPr/>
        </p:nvSpPr>
        <p:spPr>
          <a:xfrm>
            <a:off x="548640" y="1188720"/>
            <a:ext cx="11064240" cy="640080"/>
          </a:xfrm>
          <a:prstGeom prst="rect">
            <a:avLst/>
          </a:prstGeom>
          <a:noFill/>
          <a:ln/>
        </p:spPr>
        <p:txBody>
          <a:bodyPr wrap="square" lIns="0" tIns="0" rIns="0" bIns="0" rtlCol="0" anchor="t"/>
          <a:lstStyle/>
          <a:p>
            <a:pPr indent="0" marL="0">
              <a:buNone/>
            </a:pPr>
            <a:r>
              <a:rPr lang="en-US" sz="1600" dirty="0">
                <a:solidFill>
                  <a:schemeClr val="tx2"/>
                </a:solidFill>
              </a:rPr>
              <a:t>Evelyn Hartwell is a retired widow living on a pension and Social Security. In April a paid caregiver gets access to her checkbook, debit card and online banking.</a:t>
            </a:r>
            <a:endParaRPr lang="en-US" sz="1600" dirty="0"/>
          </a:p>
        </p:txBody>
      </p:sp>
      <p:sp>
        <p:nvSpPr>
          <p:cNvPr id="4" name="timeline"/>
          <p:cNvSpPr/>
          <p:nvPr/>
        </p:nvSpPr>
        <p:spPr>
          <a:xfrm>
            <a:off x="1280160" y="2395728"/>
            <a:ext cx="9692640" cy="0"/>
          </a:xfrm>
          <a:prstGeom prst="line">
            <a:avLst/>
          </a:prstGeom>
          <a:noFill/>
          <a:ln w="25400">
            <a:solidFill>
              <a:srgbClr val="C5D4E3"/>
            </a:solidFill>
            <a:prstDash val="solid"/>
          </a:ln>
        </p:spPr>
      </p:sp>
      <p:sp>
        <p:nvSpPr>
          <p:cNvPr id="5" name="March dot"/>
          <p:cNvSpPr/>
          <p:nvPr/>
        </p:nvSpPr>
        <p:spPr>
          <a:xfrm>
            <a:off x="1051560" y="2212848"/>
            <a:ext cx="365760" cy="365760"/>
          </a:xfrm>
          <a:prstGeom prst="ellipse">
            <a:avLst/>
          </a:prstGeom>
          <a:solidFill>
            <a:schemeClr val="accent6"/>
          </a:solidFill>
          <a:ln w="38100">
            <a:solidFill>
              <a:schemeClr val="bg2"/>
            </a:solidFill>
            <a:prstDash val="solid"/>
          </a:ln>
        </p:spPr>
      </p:sp>
      <p:sp>
        <p:nvSpPr>
          <p:cNvPr id="6" name="March card"/>
          <p:cNvSpPr/>
          <p:nvPr/>
        </p:nvSpPr>
        <p:spPr>
          <a:xfrm>
            <a:off x="548640" y="2788920"/>
            <a:ext cx="3520440" cy="3337560"/>
          </a:xfrm>
          <a:prstGeom prst="roundRect">
            <a:avLst>
              <a:gd name="adj" fmla="val 2192"/>
            </a:avLst>
          </a:prstGeom>
          <a:solidFill>
            <a:schemeClr val="bg1"/>
          </a:solidFill>
          <a:ln/>
          <a:effectLst>
            <a:outerShdw sx="100000" sy="100000" kx="0" ky="0" algn="bl" rotWithShape="0" blurRad="101600" dist="25400" dir="5400000">
              <a:srgbClr val="1D2844">
                <a:alpha val="16000"/>
              </a:srgbClr>
            </a:outerShdw>
          </a:effectLst>
        </p:spPr>
      </p:sp>
      <p:sp>
        <p:nvSpPr>
          <p:cNvPr id="7" name="March heading"/>
          <p:cNvSpPr txBox="1"/>
          <p:nvPr/>
        </p:nvSpPr>
        <p:spPr>
          <a:xfrm>
            <a:off x="868680" y="3017520"/>
            <a:ext cx="2971800" cy="777240"/>
          </a:xfrm>
          <a:prstGeom prst="rect">
            <a:avLst/>
          </a:prstGeom>
          <a:noFill/>
          <a:ln/>
        </p:spPr>
        <p:txBody>
          <a:bodyPr wrap="square" lIns="0" tIns="0" rIns="0" bIns="0" rtlCol="0" anchor="t"/>
          <a:lstStyle/>
          <a:p>
            <a:pPr indent="0" marL="0">
              <a:buNone/>
            </a:pPr>
            <a:r>
              <a:rPr lang="en-US" sz="1300" b="1" spc="200" kern="0" dirty="0">
                <a:solidFill>
                  <a:schemeClr val="accent3"/>
                </a:solidFill>
              </a:rPr>
              <a:t>MARCH</a:t>
            </a:r>
            <a:endParaRPr lang="en-US" sz="1300" dirty="0"/>
          </a:p>
          <a:p>
            <a:pPr indent="0" marL="0">
              <a:buNone/>
            </a:pPr>
            <a:r>
              <a:rPr lang="en-US" sz="2100" dirty="0">
                <a:solidFill>
                  <a:schemeClr val="accent2"/>
                </a:solidFill>
                <a:latin typeface="Cambria" pitchFamily="34" charset="0"/>
                <a:ea typeface="Cambria" pitchFamily="34" charset="-122"/>
                <a:cs typeface="Cambria" pitchFamily="34" charset="-120"/>
              </a:rPr>
              <a:t>Baseline</a:t>
            </a:r>
            <a:endParaRPr lang="en-US" sz="1300" dirty="0"/>
          </a:p>
        </p:txBody>
      </p:sp>
      <p:sp>
        <p:nvSpPr>
          <p:cNvPr id="8" name="March stat"/>
          <p:cNvSpPr txBox="1"/>
          <p:nvPr/>
        </p:nvSpPr>
        <p:spPr>
          <a:xfrm>
            <a:off x="868680" y="3840480"/>
            <a:ext cx="2971800" cy="868680"/>
          </a:xfrm>
          <a:prstGeom prst="rect">
            <a:avLst/>
          </a:prstGeom>
          <a:noFill/>
          <a:ln/>
        </p:spPr>
        <p:txBody>
          <a:bodyPr wrap="square" lIns="0" tIns="0" rIns="0" bIns="0" rtlCol="0" anchor="t"/>
          <a:lstStyle/>
          <a:p>
            <a:pPr indent="0" marL="0">
              <a:buNone/>
            </a:pPr>
            <a:r>
              <a:rPr lang="en-US" sz="3200" b="1" dirty="0">
                <a:solidFill>
                  <a:schemeClr val="accent6"/>
                </a:solidFill>
                <a:latin typeface="Cambria" pitchFamily="34" charset="0"/>
                <a:ea typeface="Cambria" pitchFamily="34" charset="-122"/>
                <a:cs typeface="Cambria" pitchFamily="34" charset="-120"/>
              </a:rPr>
              <a:t>$16,016.83</a:t>
            </a:r>
            <a:endParaRPr lang="en-US" sz="3200" dirty="0"/>
          </a:p>
          <a:p>
            <a:pPr indent="0" marL="0">
              <a:buNone/>
            </a:pPr>
            <a:r>
              <a:rPr lang="en-US" sz="1200" dirty="0">
                <a:solidFill>
                  <a:schemeClr val="tx2"/>
                </a:solidFill>
              </a:rPr>
              <a:t>ending balance</a:t>
            </a:r>
            <a:endParaRPr lang="en-US" sz="3200" dirty="0"/>
          </a:p>
        </p:txBody>
      </p:sp>
      <p:sp>
        <p:nvSpPr>
          <p:cNvPr id="9" name="March items"/>
          <p:cNvSpPr txBox="1"/>
          <p:nvPr/>
        </p:nvSpPr>
        <p:spPr>
          <a:xfrm>
            <a:off x="868680" y="4800600"/>
            <a:ext cx="301752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2"/>
                </a:solidFill>
              </a:rPr>
              <a:t>Pension and Social Security in</a:t>
            </a:r>
            <a:endParaRPr lang="en-US" sz="1400" dirty="0"/>
          </a:p>
          <a:p>
            <a:pPr marL="342900" indent="-342900">
              <a:spcAft>
                <a:spcPts val="400"/>
              </a:spcAft>
              <a:buSzPct val="100000"/>
              <a:buChar char="•"/>
            </a:pPr>
            <a:r>
              <a:rPr lang="en-US" sz="1400" dirty="0">
                <a:solidFill>
                  <a:schemeClr val="accent2"/>
                </a:solidFill>
              </a:rPr>
              <a:t>Normal bills and groceries</a:t>
            </a:r>
            <a:endParaRPr lang="en-US" sz="1400" dirty="0"/>
          </a:p>
          <a:p>
            <a:pPr marL="342900" indent="-342900">
              <a:spcAft>
                <a:spcPts val="400"/>
              </a:spcAft>
              <a:buSzPct val="100000"/>
              <a:buChar char="•"/>
            </a:pPr>
            <a:r>
              <a:rPr lang="en-US" sz="1400" dirty="0">
                <a:solidFill>
                  <a:schemeClr val="accent2"/>
                </a:solidFill>
              </a:rPr>
              <a:t>$100 in cash all month</a:t>
            </a:r>
            <a:endParaRPr lang="en-US" sz="1400" dirty="0"/>
          </a:p>
        </p:txBody>
      </p:sp>
      <p:sp>
        <p:nvSpPr>
          <p:cNvPr id="10" name="April dot"/>
          <p:cNvSpPr/>
          <p:nvPr/>
        </p:nvSpPr>
        <p:spPr>
          <a:xfrm>
            <a:off x="4800600" y="2212848"/>
            <a:ext cx="365760" cy="365760"/>
          </a:xfrm>
          <a:prstGeom prst="ellipse">
            <a:avLst/>
          </a:prstGeom>
          <a:solidFill>
            <a:schemeClr val="accent1"/>
          </a:solidFill>
          <a:ln w="38100">
            <a:solidFill>
              <a:schemeClr val="bg2"/>
            </a:solidFill>
            <a:prstDash val="solid"/>
          </a:ln>
        </p:spPr>
      </p:sp>
      <p:sp>
        <p:nvSpPr>
          <p:cNvPr id="11" name="April card"/>
          <p:cNvSpPr/>
          <p:nvPr/>
        </p:nvSpPr>
        <p:spPr>
          <a:xfrm>
            <a:off x="4297680" y="2788920"/>
            <a:ext cx="3520440" cy="3337560"/>
          </a:xfrm>
          <a:prstGeom prst="roundRect">
            <a:avLst>
              <a:gd name="adj" fmla="val 2192"/>
            </a:avLst>
          </a:prstGeom>
          <a:solidFill>
            <a:schemeClr val="bg1"/>
          </a:solidFill>
          <a:ln/>
          <a:effectLst>
            <a:outerShdw sx="100000" sy="100000" kx="0" ky="0" algn="bl" rotWithShape="0" blurRad="101600" dist="25400" dir="5400000">
              <a:srgbClr val="1D2844">
                <a:alpha val="16000"/>
              </a:srgbClr>
            </a:outerShdw>
          </a:effectLst>
        </p:spPr>
      </p:sp>
      <p:sp>
        <p:nvSpPr>
          <p:cNvPr id="12" name="April heading"/>
          <p:cNvSpPr txBox="1"/>
          <p:nvPr/>
        </p:nvSpPr>
        <p:spPr>
          <a:xfrm>
            <a:off x="4617720" y="3017520"/>
            <a:ext cx="2971800" cy="777240"/>
          </a:xfrm>
          <a:prstGeom prst="rect">
            <a:avLst/>
          </a:prstGeom>
          <a:noFill/>
          <a:ln/>
        </p:spPr>
        <p:txBody>
          <a:bodyPr wrap="square" lIns="0" tIns="0" rIns="0" bIns="0" rtlCol="0" anchor="t"/>
          <a:lstStyle/>
          <a:p>
            <a:pPr indent="0" marL="0">
              <a:buNone/>
            </a:pPr>
            <a:r>
              <a:rPr lang="en-US" sz="1300" b="1" spc="200" kern="0" dirty="0">
                <a:solidFill>
                  <a:schemeClr val="accent3"/>
                </a:solidFill>
              </a:rPr>
              <a:t>APRIL</a:t>
            </a:r>
            <a:endParaRPr lang="en-US" sz="1300" dirty="0"/>
          </a:p>
          <a:p>
            <a:pPr indent="0" marL="0">
              <a:buNone/>
            </a:pPr>
            <a:r>
              <a:rPr lang="en-US" sz="2100" dirty="0">
                <a:solidFill>
                  <a:schemeClr val="accent2"/>
                </a:solidFill>
                <a:latin typeface="Cambria" pitchFamily="34" charset="0"/>
                <a:ea typeface="Cambria" pitchFamily="34" charset="-122"/>
                <a:cs typeface="Cambria" pitchFamily="34" charset="-120"/>
              </a:rPr>
              <a:t>Caregiver gets access</a:t>
            </a:r>
            <a:endParaRPr lang="en-US" sz="1300" dirty="0"/>
          </a:p>
        </p:txBody>
      </p:sp>
      <p:sp>
        <p:nvSpPr>
          <p:cNvPr id="13" name="April stat"/>
          <p:cNvSpPr txBox="1"/>
          <p:nvPr/>
        </p:nvSpPr>
        <p:spPr>
          <a:xfrm>
            <a:off x="4617720" y="3840480"/>
            <a:ext cx="2971800" cy="868680"/>
          </a:xfrm>
          <a:prstGeom prst="rect">
            <a:avLst/>
          </a:prstGeom>
          <a:noFill/>
          <a:ln/>
        </p:spPr>
        <p:txBody>
          <a:bodyPr wrap="square" lIns="0" tIns="0" rIns="0" bIns="0" rtlCol="0" anchor="t"/>
          <a:lstStyle/>
          <a:p>
            <a:pPr indent="0" marL="0">
              <a:buNone/>
            </a:pPr>
            <a:r>
              <a:rPr lang="en-US" sz="3200" b="1" dirty="0">
                <a:solidFill>
                  <a:schemeClr val="accent1"/>
                </a:solidFill>
                <a:latin typeface="Cambria" pitchFamily="34" charset="0"/>
                <a:ea typeface="Cambria" pitchFamily="34" charset="-122"/>
                <a:cs typeface="Cambria" pitchFamily="34" charset="-120"/>
              </a:rPr>
              <a:t>$50,000</a:t>
            </a:r>
            <a:endParaRPr lang="en-US" sz="3200" dirty="0"/>
          </a:p>
          <a:p>
            <a:pPr indent="0" marL="0">
              <a:buNone/>
            </a:pPr>
            <a:r>
              <a:rPr lang="en-US" sz="1200" dirty="0">
                <a:solidFill>
                  <a:schemeClr val="tx2"/>
                </a:solidFill>
              </a:rPr>
              <a:t>CD matures 04/14</a:t>
            </a:r>
            <a:endParaRPr lang="en-US" sz="3200" dirty="0"/>
          </a:p>
        </p:txBody>
      </p:sp>
      <p:sp>
        <p:nvSpPr>
          <p:cNvPr id="14" name="April items"/>
          <p:cNvSpPr txBox="1"/>
          <p:nvPr/>
        </p:nvSpPr>
        <p:spPr>
          <a:xfrm>
            <a:off x="4617720" y="4800600"/>
            <a:ext cx="301752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2"/>
                </a:solidFill>
              </a:rPr>
              <a:t>$24,000 wired out on 04/15</a:t>
            </a:r>
            <a:endParaRPr lang="en-US" sz="1400" dirty="0"/>
          </a:p>
          <a:p>
            <a:pPr marL="342900" indent="-342900">
              <a:spcAft>
                <a:spcPts val="400"/>
              </a:spcAft>
              <a:buSzPct val="100000"/>
              <a:buChar char="•"/>
            </a:pPr>
            <a:r>
              <a:rPr lang="en-US" sz="1400" dirty="0">
                <a:solidFill>
                  <a:schemeClr val="accent2"/>
                </a:solidFill>
              </a:rPr>
              <a:t>$20,703.50 in cash withdrawals</a:t>
            </a:r>
            <a:endParaRPr lang="en-US" sz="1400" dirty="0"/>
          </a:p>
          <a:p>
            <a:pPr marL="342900" indent="-342900">
              <a:spcAft>
                <a:spcPts val="400"/>
              </a:spcAft>
              <a:buSzPct val="100000"/>
              <a:buChar char="•"/>
            </a:pPr>
            <a:r>
              <a:rPr lang="en-US" sz="1400" dirty="0">
                <a:solidFill>
                  <a:schemeClr val="accent2"/>
                </a:solidFill>
              </a:rPr>
              <a:t>New payee: DP Companion Care</a:t>
            </a:r>
            <a:endParaRPr lang="en-US" sz="1400" dirty="0"/>
          </a:p>
        </p:txBody>
      </p:sp>
      <p:sp>
        <p:nvSpPr>
          <p:cNvPr id="15" name="May dot"/>
          <p:cNvSpPr/>
          <p:nvPr/>
        </p:nvSpPr>
        <p:spPr>
          <a:xfrm>
            <a:off x="8549640" y="2212848"/>
            <a:ext cx="365760" cy="365760"/>
          </a:xfrm>
          <a:prstGeom prst="ellipse">
            <a:avLst/>
          </a:prstGeom>
          <a:solidFill>
            <a:schemeClr val="accent5"/>
          </a:solidFill>
          <a:ln w="38100">
            <a:solidFill>
              <a:schemeClr val="bg2"/>
            </a:solidFill>
            <a:prstDash val="solid"/>
          </a:ln>
        </p:spPr>
      </p:sp>
      <p:sp>
        <p:nvSpPr>
          <p:cNvPr id="16" name="May card"/>
          <p:cNvSpPr/>
          <p:nvPr/>
        </p:nvSpPr>
        <p:spPr>
          <a:xfrm>
            <a:off x="8046720" y="2788920"/>
            <a:ext cx="3520440" cy="3337560"/>
          </a:xfrm>
          <a:prstGeom prst="roundRect">
            <a:avLst>
              <a:gd name="adj" fmla="val 2192"/>
            </a:avLst>
          </a:prstGeom>
          <a:solidFill>
            <a:schemeClr val="bg1"/>
          </a:solidFill>
          <a:ln/>
          <a:effectLst>
            <a:outerShdw sx="100000" sy="100000" kx="0" ky="0" algn="bl" rotWithShape="0" blurRad="101600" dist="25400" dir="5400000">
              <a:srgbClr val="1D2844">
                <a:alpha val="16000"/>
              </a:srgbClr>
            </a:outerShdw>
          </a:effectLst>
        </p:spPr>
      </p:sp>
      <p:sp>
        <p:nvSpPr>
          <p:cNvPr id="17" name="May heading"/>
          <p:cNvSpPr txBox="1"/>
          <p:nvPr/>
        </p:nvSpPr>
        <p:spPr>
          <a:xfrm>
            <a:off x="8366760" y="3017520"/>
            <a:ext cx="2971800" cy="777240"/>
          </a:xfrm>
          <a:prstGeom prst="rect">
            <a:avLst/>
          </a:prstGeom>
          <a:noFill/>
          <a:ln/>
        </p:spPr>
        <p:txBody>
          <a:bodyPr wrap="square" lIns="0" tIns="0" rIns="0" bIns="0" rtlCol="0" anchor="t"/>
          <a:lstStyle/>
          <a:p>
            <a:pPr indent="0" marL="0">
              <a:buNone/>
            </a:pPr>
            <a:r>
              <a:rPr lang="en-US" sz="1300" b="1" spc="200" kern="0" dirty="0">
                <a:solidFill>
                  <a:schemeClr val="accent3"/>
                </a:solidFill>
              </a:rPr>
              <a:t>MAY</a:t>
            </a:r>
            <a:endParaRPr lang="en-US" sz="1300" dirty="0"/>
          </a:p>
          <a:p>
            <a:pPr indent="0" marL="0">
              <a:buNone/>
            </a:pPr>
            <a:r>
              <a:rPr lang="en-US" sz="2100" dirty="0">
                <a:solidFill>
                  <a:schemeClr val="accent2"/>
                </a:solidFill>
                <a:latin typeface="Cambria" pitchFamily="34" charset="0"/>
                <a:ea typeface="Cambria" pitchFamily="34" charset="-122"/>
                <a:cs typeface="Cambria" pitchFamily="34" charset="-120"/>
              </a:rPr>
              <a:t>Drained</a:t>
            </a:r>
            <a:endParaRPr lang="en-US" sz="1300" dirty="0"/>
          </a:p>
        </p:txBody>
      </p:sp>
      <p:sp>
        <p:nvSpPr>
          <p:cNvPr id="18" name="May stat"/>
          <p:cNvSpPr txBox="1"/>
          <p:nvPr/>
        </p:nvSpPr>
        <p:spPr>
          <a:xfrm>
            <a:off x="8366760" y="3840480"/>
            <a:ext cx="2971800" cy="868680"/>
          </a:xfrm>
          <a:prstGeom prst="rect">
            <a:avLst/>
          </a:prstGeom>
          <a:noFill/>
          <a:ln/>
        </p:spPr>
        <p:txBody>
          <a:bodyPr wrap="square" lIns="0" tIns="0" rIns="0" bIns="0" rtlCol="0" anchor="t"/>
          <a:lstStyle/>
          <a:p>
            <a:pPr indent="0" marL="0">
              <a:buNone/>
            </a:pPr>
            <a:r>
              <a:rPr lang="en-US" sz="3200" b="1" dirty="0">
                <a:solidFill>
                  <a:schemeClr val="accent5"/>
                </a:solidFill>
                <a:latin typeface="Cambria" pitchFamily="34" charset="0"/>
                <a:ea typeface="Cambria" pitchFamily="34" charset="-122"/>
                <a:cs typeface="Cambria" pitchFamily="34" charset="-120"/>
              </a:rPr>
              <a:t>−$79.93</a:t>
            </a:r>
            <a:endParaRPr lang="en-US" sz="3200" dirty="0"/>
          </a:p>
          <a:p>
            <a:pPr indent="0" marL="0">
              <a:buNone/>
            </a:pPr>
            <a:r>
              <a:rPr lang="en-US" sz="1200" dirty="0">
                <a:solidFill>
                  <a:schemeClr val="tx2"/>
                </a:solidFill>
              </a:rPr>
              <a:t>ending balance</a:t>
            </a:r>
            <a:endParaRPr lang="en-US" sz="3200" dirty="0"/>
          </a:p>
        </p:txBody>
      </p:sp>
      <p:sp>
        <p:nvSpPr>
          <p:cNvPr id="19" name="May items"/>
          <p:cNvSpPr txBox="1"/>
          <p:nvPr/>
        </p:nvSpPr>
        <p:spPr>
          <a:xfrm>
            <a:off x="8366760" y="4800600"/>
            <a:ext cx="3017520" cy="1234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accent2"/>
                </a:solidFill>
              </a:rPr>
              <a:t>$15,587 in cash withdrawals</a:t>
            </a:r>
            <a:endParaRPr lang="en-US" sz="1400" dirty="0"/>
          </a:p>
          <a:p>
            <a:pPr marL="342900" indent="-342900">
              <a:spcAft>
                <a:spcPts val="400"/>
              </a:spcAft>
              <a:buSzPct val="100000"/>
              <a:buChar char="•"/>
            </a:pPr>
            <a:r>
              <a:rPr lang="en-US" sz="1400" dirty="0">
                <a:solidFill>
                  <a:schemeClr val="accent2"/>
                </a:solidFill>
              </a:rPr>
              <a:t>Casino ATM and card cash advances</a:t>
            </a:r>
            <a:endParaRPr lang="en-US" sz="1400" dirty="0"/>
          </a:p>
          <a:p>
            <a:pPr marL="342900" indent="-342900">
              <a:spcAft>
                <a:spcPts val="400"/>
              </a:spcAft>
              <a:buSzPct val="100000"/>
              <a:buChar char="•"/>
            </a:pPr>
            <a:r>
              <a:rPr lang="en-US" sz="1400" dirty="0">
                <a:solidFill>
                  <a:schemeClr val="accent2"/>
                </a:solidFill>
              </a:rPr>
              <a:t>Overdraft fee, returned check</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Step 1: drop in the statements</a:t>
            </a:r>
            <a:endParaRPr lang="en-US" sz="3000" dirty="0"/>
          </a:p>
        </p:txBody>
      </p:sp>
      <p:sp>
        <p:nvSpPr>
          <p:cNvPr id="3" name="stat statements: three months of checking and a credit card"/>
          <p:cNvSpPr txBox="1"/>
          <p:nvPr/>
        </p:nvSpPr>
        <p:spPr>
          <a:xfrm>
            <a:off x="548640" y="1463040"/>
            <a:ext cx="2377440" cy="109728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a:t>
            </a:r>
            <a:endParaRPr lang="en-US" sz="4000" dirty="0"/>
          </a:p>
          <a:p>
            <a:pPr indent="0" marL="0">
              <a:buNone/>
            </a:pPr>
            <a:r>
              <a:rPr lang="en-US" sz="1300" dirty="0">
                <a:solidFill>
                  <a:schemeClr val="tx2"/>
                </a:solidFill>
              </a:rPr>
              <a:t>statements: three months of checking and a credit card</a:t>
            </a:r>
            <a:endParaRPr lang="en-US" sz="4000" dirty="0"/>
          </a:p>
        </p:txBody>
      </p:sp>
      <p:sp>
        <p:nvSpPr>
          <p:cNvPr id="4" name="stat transactions read, with no template"/>
          <p:cNvSpPr txBox="1"/>
          <p:nvPr/>
        </p:nvSpPr>
        <p:spPr>
          <a:xfrm>
            <a:off x="3017520" y="1463040"/>
            <a:ext cx="2377440" cy="109728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69</a:t>
            </a:r>
            <a:endParaRPr lang="en-US" sz="4000" dirty="0"/>
          </a:p>
          <a:p>
            <a:pPr indent="0" marL="0">
              <a:buNone/>
            </a:pPr>
            <a:r>
              <a:rPr lang="en-US" sz="1300" dirty="0">
                <a:solidFill>
                  <a:schemeClr val="tx2"/>
                </a:solidFill>
              </a:rPr>
              <a:t>transactions read, with no template</a:t>
            </a:r>
            <a:endParaRPr lang="en-US" sz="4000" dirty="0"/>
          </a:p>
        </p:txBody>
      </p:sp>
      <p:sp>
        <p:nvSpPr>
          <p:cNvPr id="5" name="stat statements reconciled to the bank's own totals"/>
          <p:cNvSpPr txBox="1"/>
          <p:nvPr/>
        </p:nvSpPr>
        <p:spPr>
          <a:xfrm>
            <a:off x="548640" y="2788920"/>
            <a:ext cx="2377440" cy="1097280"/>
          </a:xfrm>
          <a:prstGeom prst="rect">
            <a:avLst/>
          </a:prstGeom>
          <a:noFill/>
          <a:ln/>
        </p:spPr>
        <p:txBody>
          <a:bodyPr wrap="square" lIns="0" tIns="0" rIns="0" bIns="0" rtlCol="0" anchor="t"/>
          <a:lstStyle/>
          <a:p>
            <a:pPr indent="0" marL="0">
              <a:buNone/>
            </a:pPr>
            <a:r>
              <a:rPr lang="en-US" sz="4000" b="1" dirty="0">
                <a:solidFill>
                  <a:schemeClr val="accent6"/>
                </a:solidFill>
                <a:latin typeface="Cambria" pitchFamily="34" charset="0"/>
                <a:ea typeface="Cambria" pitchFamily="34" charset="-122"/>
                <a:cs typeface="Cambria" pitchFamily="34" charset="-120"/>
              </a:rPr>
              <a:t>4 of 4</a:t>
            </a:r>
            <a:endParaRPr lang="en-US" sz="4000" dirty="0"/>
          </a:p>
          <a:p>
            <a:pPr indent="0" marL="0">
              <a:buNone/>
            </a:pPr>
            <a:r>
              <a:rPr lang="en-US" sz="1300" dirty="0">
                <a:solidFill>
                  <a:schemeClr val="tx2"/>
                </a:solidFill>
              </a:rPr>
              <a:t>statements reconciled to the bank's own totals</a:t>
            </a:r>
            <a:endParaRPr lang="en-US" sz="4000" dirty="0"/>
          </a:p>
        </p:txBody>
      </p:sp>
      <p:sp>
        <p:nvSpPr>
          <p:cNvPr id="6" name="stat higher-risk items to look at first"/>
          <p:cNvSpPr txBox="1"/>
          <p:nvPr/>
        </p:nvSpPr>
        <p:spPr>
          <a:xfrm>
            <a:off x="3017520" y="2788920"/>
            <a:ext cx="2377440" cy="109728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32</a:t>
            </a:r>
            <a:endParaRPr lang="en-US" sz="4000" dirty="0"/>
          </a:p>
          <a:p>
            <a:pPr indent="0" marL="0">
              <a:buNone/>
            </a:pPr>
            <a:r>
              <a:rPr lang="en-US" sz="1300" dirty="0">
                <a:solidFill>
                  <a:schemeClr val="tx2"/>
                </a:solidFill>
              </a:rPr>
              <a:t>higher-risk items to look at first</a:t>
            </a:r>
            <a:endParaRPr lang="en-US" sz="4000" dirty="0"/>
          </a:p>
        </p:txBody>
      </p:sp>
      <p:sp>
        <p:nvSpPr>
          <p:cNvPr id="7" name="upload tip card"/>
          <p:cNvSpPr/>
          <p:nvPr/>
        </p:nvSpPr>
        <p:spPr>
          <a:xfrm>
            <a:off x="548640" y="4251960"/>
            <a:ext cx="5029200" cy="1737360"/>
          </a:xfrm>
          <a:prstGeom prst="roundRect">
            <a:avLst>
              <a:gd name="adj" fmla="val 4211"/>
            </a:avLst>
          </a:prstGeom>
          <a:solidFill>
            <a:schemeClr val="accent4"/>
          </a:solidFill>
          <a:ln/>
          <a:effectLst>
            <a:outerShdw sx="100000" sy="100000" kx="0" ky="0" algn="bl" rotWithShape="0" blurRad="101600" dist="25400" dir="5400000">
              <a:srgbClr val="1D2844">
                <a:alpha val="16000"/>
              </a:srgbClr>
            </a:outerShdw>
          </a:effectLst>
        </p:spPr>
      </p:sp>
      <p:sp>
        <p:nvSpPr>
          <p:cNvPr id="8" name="upload tip"/>
          <p:cNvSpPr txBox="1"/>
          <p:nvPr/>
        </p:nvSpPr>
        <p:spPr>
          <a:xfrm>
            <a:off x="777240" y="4434840"/>
            <a:ext cx="4572000" cy="146304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In the app</a:t>
            </a:r>
            <a:endParaRPr lang="en-US" sz="1500" dirty="0"/>
          </a:p>
          <a:p>
            <a:pPr indent="0" marL="0">
              <a:spcAft>
                <a:spcPts val="400"/>
              </a:spcAft>
              <a:buNone/>
            </a:pPr>
            <a:r>
              <a:rPr lang="en-US" sz="1400" dirty="0">
                <a:solidFill>
                  <a:schemeClr val="accent2"/>
                </a:solidFill>
              </a:rPr>
              <a:t>Click Try it with sample statements, or drag your own PDFs onto Upload statements. Scanned pages are read with OCR in the version on your computer.</a:t>
            </a:r>
            <a:endParaRPr lang="en-US" sz="1500" dirty="0"/>
          </a:p>
        </p:txBody>
      </p:sp>
      <p:sp>
        <p:nvSpPr>
          <p:cNvPr id="9" name="summary frame"/>
          <p:cNvSpPr/>
          <p:nvPr/>
        </p:nvSpPr>
        <p:spPr>
          <a:xfrm>
            <a:off x="5989320" y="1325880"/>
            <a:ext cx="5650992" cy="4567622"/>
          </a:xfrm>
          <a:prstGeom prst="roundRect">
            <a:avLst>
              <a:gd name="adj" fmla="val 1602"/>
            </a:avLst>
          </a:prstGeom>
          <a:solidFill>
            <a:schemeClr val="bg1"/>
          </a:solidFill>
          <a:ln/>
          <a:effectLst>
            <a:outerShdw sx="100000" sy="100000" kx="0" ky="0" algn="bl" rotWithShape="0" blurRad="101600" dist="25400" dir="5400000">
              <a:srgbClr val="1D2844">
                <a:alpha val="16000"/>
              </a:srgbClr>
            </a:outerShdw>
          </a:effectLst>
        </p:spPr>
      </p:sp>
      <p:pic>
        <p:nvPicPr>
          <p:cNvPr id="10" name="summary screenshot" descr="Summary tab after loading the four sample statements">    </p:cNvPr>
          <p:cNvPicPr>
            <a:picLocks noChangeAspect="1"/>
          </p:cNvPicPr>
          <p:nvPr/>
        </p:nvPicPr>
        <p:blipFill>
          <a:blip r:embed="rId1"/>
          <a:stretch>
            <a:fillRect/>
          </a:stretch>
        </p:blipFill>
        <p:spPr>
          <a:xfrm>
            <a:off x="6080760" y="1417320"/>
            <a:ext cx="5468112" cy="4384742"/>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Step 2: see the money move</a:t>
            </a:r>
            <a:endParaRPr lang="en-US" sz="3000" dirty="0"/>
          </a:p>
        </p:txBody>
      </p:sp>
      <p:sp>
        <p:nvSpPr>
          <p:cNvPr id="3" name="peak label"/>
          <p:cNvSpPr txBox="1"/>
          <p:nvPr/>
        </p:nvSpPr>
        <p:spPr>
          <a:xfrm>
            <a:off x="548640" y="1463040"/>
            <a:ext cx="50292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BALANCE PEAKED AT</a:t>
            </a:r>
            <a:endParaRPr lang="en-US" sz="1300" dirty="0"/>
          </a:p>
        </p:txBody>
      </p:sp>
      <p:sp>
        <p:nvSpPr>
          <p:cNvPr id="4" name="peak value"/>
          <p:cNvSpPr txBox="1"/>
          <p:nvPr/>
        </p:nvSpPr>
        <p:spPr>
          <a:xfrm>
            <a:off x="548640" y="1783080"/>
            <a:ext cx="502920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$65,762.44</a:t>
            </a:r>
            <a:endParaRPr lang="en-US" sz="5400" dirty="0"/>
          </a:p>
        </p:txBody>
      </p:sp>
      <p:sp>
        <p:nvSpPr>
          <p:cNvPr id="5" name="peak note"/>
          <p:cNvSpPr txBox="1"/>
          <p:nvPr/>
        </p:nvSpPr>
        <p:spPr>
          <a:xfrm>
            <a:off x="548640" y="2651760"/>
            <a:ext cx="5029200" cy="365760"/>
          </a:xfrm>
          <a:prstGeom prst="rect">
            <a:avLst/>
          </a:prstGeom>
          <a:noFill/>
          <a:ln/>
        </p:spPr>
        <p:txBody>
          <a:bodyPr wrap="square" lIns="0" tIns="0" rIns="0" bIns="0" rtlCol="0" anchor="t"/>
          <a:lstStyle/>
          <a:p>
            <a:pPr indent="0" marL="0">
              <a:buNone/>
            </a:pPr>
            <a:r>
              <a:rPr lang="en-US" sz="1500" dirty="0">
                <a:solidFill>
                  <a:schemeClr val="tx2"/>
                </a:solidFill>
              </a:rPr>
              <a:t>on 04/14, the day the CD matured</a:t>
            </a:r>
            <a:endParaRPr lang="en-US" sz="1500" dirty="0"/>
          </a:p>
        </p:txBody>
      </p:sp>
      <p:sp>
        <p:nvSpPr>
          <p:cNvPr id="6" name="low label"/>
          <p:cNvSpPr txBox="1"/>
          <p:nvPr/>
        </p:nvSpPr>
        <p:spPr>
          <a:xfrm>
            <a:off x="548640" y="3246120"/>
            <a:ext cx="5029200" cy="320040"/>
          </a:xfrm>
          <a:prstGeom prst="rect">
            <a:avLst/>
          </a:prstGeom>
          <a:noFill/>
          <a:ln/>
        </p:spPr>
        <p:txBody>
          <a:bodyPr wrap="square" lIns="0" tIns="0" rIns="0" bIns="0" rtlCol="0" anchor="t"/>
          <a:lstStyle/>
          <a:p>
            <a:pPr indent="0" marL="0">
              <a:buNone/>
            </a:pPr>
            <a:r>
              <a:rPr lang="en-US" sz="1300" b="1" spc="200" kern="0" dirty="0">
                <a:solidFill>
                  <a:schemeClr val="accent3"/>
                </a:solidFill>
              </a:rPr>
              <a:t>SIX WEEKS LATER</a:t>
            </a:r>
            <a:endParaRPr lang="en-US" sz="1300" dirty="0"/>
          </a:p>
        </p:txBody>
      </p:sp>
      <p:sp>
        <p:nvSpPr>
          <p:cNvPr id="7" name="low value"/>
          <p:cNvSpPr txBox="1"/>
          <p:nvPr/>
        </p:nvSpPr>
        <p:spPr>
          <a:xfrm>
            <a:off x="548640" y="3566160"/>
            <a:ext cx="5029200" cy="868680"/>
          </a:xfrm>
          <a:prstGeom prst="rect">
            <a:avLst/>
          </a:prstGeom>
          <a:noFill/>
          <a:ln/>
        </p:spPr>
        <p:txBody>
          <a:bodyPr wrap="square" lIns="0" tIns="0" rIns="0" bIns="0" rtlCol="0" anchor="t"/>
          <a:lstStyle/>
          <a:p>
            <a:pPr indent="0" marL="0">
              <a:buNone/>
            </a:pPr>
            <a:r>
              <a:rPr lang="en-US" sz="5400" b="1" dirty="0">
                <a:solidFill>
                  <a:schemeClr val="accent5"/>
                </a:solidFill>
                <a:latin typeface="Cambria" pitchFamily="34" charset="0"/>
                <a:ea typeface="Cambria" pitchFamily="34" charset="-122"/>
                <a:cs typeface="Cambria" pitchFamily="34" charset="-120"/>
              </a:rPr>
              <a:t>−$79.93</a:t>
            </a:r>
            <a:endParaRPr lang="en-US" sz="5400" dirty="0"/>
          </a:p>
        </p:txBody>
      </p:sp>
      <p:sp>
        <p:nvSpPr>
          <p:cNvPr id="8" name="low note"/>
          <p:cNvSpPr txBox="1"/>
          <p:nvPr/>
        </p:nvSpPr>
        <p:spPr>
          <a:xfrm>
            <a:off x="548640" y="4434840"/>
            <a:ext cx="5029200" cy="365760"/>
          </a:xfrm>
          <a:prstGeom prst="rect">
            <a:avLst/>
          </a:prstGeom>
          <a:noFill/>
          <a:ln/>
        </p:spPr>
        <p:txBody>
          <a:bodyPr wrap="square" lIns="0" tIns="0" rIns="0" bIns="0" rtlCol="0" anchor="t"/>
          <a:lstStyle/>
          <a:p>
            <a:pPr indent="0" marL="0">
              <a:buNone/>
            </a:pPr>
            <a:r>
              <a:rPr lang="en-US" sz="1500" dirty="0">
                <a:solidFill>
                  <a:schemeClr val="tx2"/>
                </a:solidFill>
              </a:rPr>
              <a:t>overdrawn, with an overdraft fee and a returned check</a:t>
            </a:r>
            <a:endParaRPr lang="en-US" sz="1500" dirty="0"/>
          </a:p>
        </p:txBody>
      </p:sp>
      <p:sp>
        <p:nvSpPr>
          <p:cNvPr id="9" name="dashboard tip"/>
          <p:cNvSpPr txBox="1"/>
          <p:nvPr/>
        </p:nvSpPr>
        <p:spPr>
          <a:xfrm>
            <a:off x="548640" y="5257800"/>
            <a:ext cx="4937760" cy="731520"/>
          </a:xfrm>
          <a:prstGeom prst="rect">
            <a:avLst/>
          </a:prstGeom>
          <a:noFill/>
          <a:ln/>
        </p:spPr>
        <p:txBody>
          <a:bodyPr wrap="square" lIns="0" tIns="0" rIns="0" bIns="0" rtlCol="0" anchor="t"/>
          <a:lstStyle/>
          <a:p>
            <a:pPr indent="0" marL="0">
              <a:buNone/>
            </a:pPr>
            <a:r>
              <a:rPr lang="en-US" sz="1400" i="1" dirty="0">
                <a:solidFill>
                  <a:schemeClr val="accent1"/>
                </a:solidFill>
              </a:rPr>
              <a:t>Filter by date, account, direction and risk; group the charts by day, week or month.</a:t>
            </a:r>
            <a:endParaRPr lang="en-US" sz="1400" dirty="0"/>
          </a:p>
        </p:txBody>
      </p:sp>
      <p:sp>
        <p:nvSpPr>
          <p:cNvPr id="10" name="dashboard frame"/>
          <p:cNvSpPr/>
          <p:nvPr/>
        </p:nvSpPr>
        <p:spPr>
          <a:xfrm>
            <a:off x="5989320" y="1325880"/>
            <a:ext cx="5650992" cy="4567622"/>
          </a:xfrm>
          <a:prstGeom prst="roundRect">
            <a:avLst>
              <a:gd name="adj" fmla="val 1602"/>
            </a:avLst>
          </a:prstGeom>
          <a:solidFill>
            <a:schemeClr val="bg1"/>
          </a:solidFill>
          <a:ln/>
          <a:effectLst>
            <a:outerShdw sx="100000" sy="100000" kx="0" ky="0" algn="bl" rotWithShape="0" blurRad="101600" dist="25400" dir="5400000">
              <a:srgbClr val="1D2844">
                <a:alpha val="16000"/>
              </a:srgbClr>
            </a:outerShdw>
          </a:effectLst>
        </p:spPr>
      </p:sp>
      <p:pic>
        <p:nvPicPr>
          <p:cNvPr id="11" name="dashboard screenshot" descr="Dashboard tab with cash flow and balance charts">    </p:cNvPr>
          <p:cNvPicPr>
            <a:picLocks noChangeAspect="1"/>
          </p:cNvPicPr>
          <p:nvPr/>
        </p:nvPicPr>
        <p:blipFill>
          <a:blip r:embed="rId1"/>
          <a:stretch>
            <a:fillRect/>
          </a:stretch>
        </p:blipFill>
        <p:spPr>
          <a:xfrm>
            <a:off x="6080760" y="1417320"/>
            <a:ext cx="5468112" cy="4384742"/>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Step 3: the patterns an investigator looks for</a:t>
            </a:r>
            <a:endParaRPr lang="en-US" sz="3000" dirty="0"/>
          </a:p>
        </p:txBody>
      </p:sp>
      <p:sp>
        <p:nvSpPr>
          <p:cNvPr id="3" name="Cash kept just under $10,000 circle"/>
          <p:cNvSpPr/>
          <p:nvPr/>
        </p:nvSpPr>
        <p:spPr>
          <a:xfrm>
            <a:off x="548640" y="1417320"/>
            <a:ext cx="502920" cy="502920"/>
          </a:xfrm>
          <a:prstGeom prst="ellipse">
            <a:avLst/>
          </a:prstGeom>
          <a:solidFill>
            <a:schemeClr val="accent2"/>
          </a:solidFill>
          <a:ln/>
        </p:spPr>
      </p:sp>
      <p:pic>
        <p:nvPicPr>
          <p:cNvPr id="4" name="Cash kept just under $10,000 icon" descr="preencoded.png">    </p:cNvPr>
          <p:cNvPicPr>
            <a:picLocks noChangeAspect="1"/>
          </p:cNvPicPr>
          <p:nvPr/>
        </p:nvPicPr>
        <p:blipFill>
          <a:blip r:embed="rId1"/>
          <a:stretch>
            <a:fillRect/>
          </a:stretch>
        </p:blipFill>
        <p:spPr>
          <a:xfrm>
            <a:off x="674370" y="1543050"/>
            <a:ext cx="251460" cy="251460"/>
          </a:xfrm>
          <a:prstGeom prst="rect">
            <a:avLst/>
          </a:prstGeom>
        </p:spPr>
      </p:pic>
      <p:sp>
        <p:nvSpPr>
          <p:cNvPr id="5" name="Cash kept just under $10,000 text"/>
          <p:cNvSpPr txBox="1"/>
          <p:nvPr/>
        </p:nvSpPr>
        <p:spPr>
          <a:xfrm>
            <a:off x="1280160" y="1399032"/>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Cash kept just under $10,000</a:t>
            </a:r>
            <a:endParaRPr lang="en-US" sz="1600" dirty="0"/>
          </a:p>
          <a:p>
            <a:pPr indent="0" marL="0">
              <a:spcAft>
                <a:spcPts val="200"/>
              </a:spcAft>
              <a:buNone/>
            </a:pPr>
            <a:r>
              <a:rPr lang="en-US" sz="1350" dirty="0">
                <a:solidFill>
                  <a:schemeClr val="tx2"/>
                </a:solidFill>
              </a:rPr>
              <a:t>$9,500, $9,800, $9,000 and $5,080 at the branch</a:t>
            </a:r>
            <a:endParaRPr lang="en-US" sz="1600" dirty="0"/>
          </a:p>
        </p:txBody>
      </p:sp>
      <p:sp>
        <p:nvSpPr>
          <p:cNvPr id="6" name="A new payee taking large sums circle"/>
          <p:cNvSpPr/>
          <p:nvPr/>
        </p:nvSpPr>
        <p:spPr>
          <a:xfrm>
            <a:off x="548640" y="2212848"/>
            <a:ext cx="502920" cy="502920"/>
          </a:xfrm>
          <a:prstGeom prst="ellipse">
            <a:avLst/>
          </a:prstGeom>
          <a:solidFill>
            <a:schemeClr val="accent2"/>
          </a:solidFill>
          <a:ln/>
        </p:spPr>
      </p:sp>
      <p:pic>
        <p:nvPicPr>
          <p:cNvPr id="7" name="A new payee taking large sums icon" descr="preencoded.png">    </p:cNvPr>
          <p:cNvPicPr>
            <a:picLocks noChangeAspect="1"/>
          </p:cNvPicPr>
          <p:nvPr/>
        </p:nvPicPr>
        <p:blipFill>
          <a:blip r:embed="rId2"/>
          <a:stretch>
            <a:fillRect/>
          </a:stretch>
        </p:blipFill>
        <p:spPr>
          <a:xfrm>
            <a:off x="674370" y="2338578"/>
            <a:ext cx="251460" cy="251460"/>
          </a:xfrm>
          <a:prstGeom prst="rect">
            <a:avLst/>
          </a:prstGeom>
        </p:spPr>
      </p:pic>
      <p:sp>
        <p:nvSpPr>
          <p:cNvPr id="8" name="A new payee taking large sums text"/>
          <p:cNvSpPr txBox="1"/>
          <p:nvPr/>
        </p:nvSpPr>
        <p:spPr>
          <a:xfrm>
            <a:off x="1280160" y="2194560"/>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A new payee taking large sums</a:t>
            </a:r>
            <a:endParaRPr lang="en-US" sz="1600" dirty="0"/>
          </a:p>
          <a:p>
            <a:pPr indent="0" marL="0">
              <a:spcAft>
                <a:spcPts val="200"/>
              </a:spcAft>
              <a:buNone/>
            </a:pPr>
            <a:r>
              <a:rPr lang="en-US" sz="1350" dirty="0">
                <a:solidFill>
                  <a:schemeClr val="tx2"/>
                </a:solidFill>
              </a:rPr>
              <a:t>DP Companion Care: 5 payments, $29,400</a:t>
            </a:r>
            <a:endParaRPr lang="en-US" sz="1600" dirty="0"/>
          </a:p>
        </p:txBody>
      </p:sp>
      <p:sp>
        <p:nvSpPr>
          <p:cNvPr id="9" name="Zelle to the caregiver circle"/>
          <p:cNvSpPr/>
          <p:nvPr/>
        </p:nvSpPr>
        <p:spPr>
          <a:xfrm>
            <a:off x="548640" y="3008376"/>
            <a:ext cx="502920" cy="502920"/>
          </a:xfrm>
          <a:prstGeom prst="ellipse">
            <a:avLst/>
          </a:prstGeom>
          <a:solidFill>
            <a:schemeClr val="accent2"/>
          </a:solidFill>
          <a:ln/>
        </p:spPr>
      </p:sp>
      <p:pic>
        <p:nvPicPr>
          <p:cNvPr id="10" name="Zelle to the caregiver icon" descr="preencoded.png">    </p:cNvPr>
          <p:cNvPicPr>
            <a:picLocks noChangeAspect="1"/>
          </p:cNvPicPr>
          <p:nvPr/>
        </p:nvPicPr>
        <p:blipFill>
          <a:blip r:embed="rId3"/>
          <a:stretch>
            <a:fillRect/>
          </a:stretch>
        </p:blipFill>
        <p:spPr>
          <a:xfrm>
            <a:off x="674370" y="3134106"/>
            <a:ext cx="251460" cy="251460"/>
          </a:xfrm>
          <a:prstGeom prst="rect">
            <a:avLst/>
          </a:prstGeom>
        </p:spPr>
      </p:pic>
      <p:sp>
        <p:nvSpPr>
          <p:cNvPr id="11" name="Zelle to the caregiver text"/>
          <p:cNvSpPr txBox="1"/>
          <p:nvPr/>
        </p:nvSpPr>
        <p:spPr>
          <a:xfrm>
            <a:off x="1280160" y="2990088"/>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Zelle to the caregiver</a:t>
            </a:r>
            <a:endParaRPr lang="en-US" sz="1600" dirty="0"/>
          </a:p>
          <a:p>
            <a:pPr indent="0" marL="0">
              <a:spcAft>
                <a:spcPts val="200"/>
              </a:spcAft>
              <a:buNone/>
            </a:pPr>
            <a:r>
              <a:rPr lang="en-US" sz="1350" dirty="0">
                <a:solidFill>
                  <a:schemeClr val="tx2"/>
                </a:solidFill>
              </a:rPr>
              <a:t>Dana Pruitt: $5,000 in round-dollar transfers</a:t>
            </a:r>
            <a:endParaRPr lang="en-US" sz="1600" dirty="0"/>
          </a:p>
        </p:txBody>
      </p:sp>
      <p:sp>
        <p:nvSpPr>
          <p:cNvPr id="12" name="Cash spike circle"/>
          <p:cNvSpPr/>
          <p:nvPr/>
        </p:nvSpPr>
        <p:spPr>
          <a:xfrm>
            <a:off x="548640" y="3803904"/>
            <a:ext cx="502920" cy="502920"/>
          </a:xfrm>
          <a:prstGeom prst="ellipse">
            <a:avLst/>
          </a:prstGeom>
          <a:solidFill>
            <a:schemeClr val="accent2"/>
          </a:solidFill>
          <a:ln/>
        </p:spPr>
      </p:sp>
      <p:pic>
        <p:nvPicPr>
          <p:cNvPr id="13" name="Cash spike icon" descr="preencoded.png">    </p:cNvPr>
          <p:cNvPicPr>
            <a:picLocks noChangeAspect="1"/>
          </p:cNvPicPr>
          <p:nvPr/>
        </p:nvPicPr>
        <p:blipFill>
          <a:blip r:embed="rId4"/>
          <a:stretch>
            <a:fillRect/>
          </a:stretch>
        </p:blipFill>
        <p:spPr>
          <a:xfrm>
            <a:off x="674370" y="3929634"/>
            <a:ext cx="251460" cy="251460"/>
          </a:xfrm>
          <a:prstGeom prst="rect">
            <a:avLst/>
          </a:prstGeom>
        </p:spPr>
      </p:pic>
      <p:sp>
        <p:nvSpPr>
          <p:cNvPr id="14" name="Cash spike text"/>
          <p:cNvSpPr txBox="1"/>
          <p:nvPr/>
        </p:nvSpPr>
        <p:spPr>
          <a:xfrm>
            <a:off x="1280160" y="3785616"/>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Cash spike</a:t>
            </a:r>
            <a:endParaRPr lang="en-US" sz="1600" dirty="0"/>
          </a:p>
          <a:p>
            <a:pPr indent="0" marL="0">
              <a:spcAft>
                <a:spcPts val="200"/>
              </a:spcAft>
              <a:buNone/>
            </a:pPr>
            <a:r>
              <a:rPr lang="en-US" sz="1350" dirty="0">
                <a:solidFill>
                  <a:schemeClr val="tx2"/>
                </a:solidFill>
              </a:rPr>
              <a:t>$100 in March, $20,703.50 in April</a:t>
            </a:r>
            <a:endParaRPr lang="en-US" sz="1600" dirty="0"/>
          </a:p>
        </p:txBody>
      </p:sp>
      <p:sp>
        <p:nvSpPr>
          <p:cNvPr id="15" name="Gambling, gift cards, cash advances circle"/>
          <p:cNvSpPr/>
          <p:nvPr/>
        </p:nvSpPr>
        <p:spPr>
          <a:xfrm>
            <a:off x="548640" y="4599432"/>
            <a:ext cx="502920" cy="502920"/>
          </a:xfrm>
          <a:prstGeom prst="ellipse">
            <a:avLst/>
          </a:prstGeom>
          <a:solidFill>
            <a:schemeClr val="accent2"/>
          </a:solidFill>
          <a:ln/>
        </p:spPr>
      </p:sp>
      <p:pic>
        <p:nvPicPr>
          <p:cNvPr id="16" name="Gambling, gift cards, cash advances icon" descr="preencoded.png">    </p:cNvPr>
          <p:cNvPicPr>
            <a:picLocks noChangeAspect="1"/>
          </p:cNvPicPr>
          <p:nvPr/>
        </p:nvPicPr>
        <p:blipFill>
          <a:blip r:embed="rId5"/>
          <a:stretch>
            <a:fillRect/>
          </a:stretch>
        </p:blipFill>
        <p:spPr>
          <a:xfrm>
            <a:off x="674370" y="4725162"/>
            <a:ext cx="251460" cy="251460"/>
          </a:xfrm>
          <a:prstGeom prst="rect">
            <a:avLst/>
          </a:prstGeom>
        </p:spPr>
      </p:pic>
      <p:sp>
        <p:nvSpPr>
          <p:cNvPr id="17" name="Gambling, gift cards, cash advances text"/>
          <p:cNvSpPr txBox="1"/>
          <p:nvPr/>
        </p:nvSpPr>
        <p:spPr>
          <a:xfrm>
            <a:off x="1280160" y="4581144"/>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Gambling, gift cards, cash advances</a:t>
            </a:r>
            <a:endParaRPr lang="en-US" sz="1600" dirty="0"/>
          </a:p>
          <a:p>
            <a:pPr indent="0" marL="0">
              <a:spcAft>
                <a:spcPts val="200"/>
              </a:spcAft>
              <a:buNone/>
            </a:pPr>
            <a:r>
              <a:rPr lang="en-US" sz="1350" dirty="0">
                <a:solidFill>
                  <a:schemeClr val="tx2"/>
                </a:solidFill>
              </a:rPr>
              <a:t>On both the checking account and the card</a:t>
            </a:r>
            <a:endParaRPr lang="en-US" sz="1600" dirty="0"/>
          </a:p>
        </p:txBody>
      </p:sp>
      <p:sp>
        <p:nvSpPr>
          <p:cNvPr id="18" name="Duplicates, gaps and overdrafts circle"/>
          <p:cNvSpPr/>
          <p:nvPr/>
        </p:nvSpPr>
        <p:spPr>
          <a:xfrm>
            <a:off x="548640" y="5394960"/>
            <a:ext cx="502920" cy="502920"/>
          </a:xfrm>
          <a:prstGeom prst="ellipse">
            <a:avLst/>
          </a:prstGeom>
          <a:solidFill>
            <a:schemeClr val="accent2"/>
          </a:solidFill>
          <a:ln/>
        </p:spPr>
      </p:sp>
      <p:pic>
        <p:nvPicPr>
          <p:cNvPr id="19" name="Duplicates, gaps and overdrafts icon" descr="preencoded.png">    </p:cNvPr>
          <p:cNvPicPr>
            <a:picLocks noChangeAspect="1"/>
          </p:cNvPicPr>
          <p:nvPr/>
        </p:nvPicPr>
        <p:blipFill>
          <a:blip r:embed="rId6"/>
          <a:stretch>
            <a:fillRect/>
          </a:stretch>
        </p:blipFill>
        <p:spPr>
          <a:xfrm>
            <a:off x="674370" y="5520690"/>
            <a:ext cx="251460" cy="251460"/>
          </a:xfrm>
          <a:prstGeom prst="rect">
            <a:avLst/>
          </a:prstGeom>
        </p:spPr>
      </p:pic>
      <p:sp>
        <p:nvSpPr>
          <p:cNvPr id="20" name="Duplicates, gaps and overdrafts text"/>
          <p:cNvSpPr txBox="1"/>
          <p:nvPr/>
        </p:nvSpPr>
        <p:spPr>
          <a:xfrm>
            <a:off x="1280160" y="5376672"/>
            <a:ext cx="4434840" cy="722376"/>
          </a:xfrm>
          <a:prstGeom prst="rect">
            <a:avLst/>
          </a:prstGeom>
          <a:noFill/>
          <a:ln/>
        </p:spPr>
        <p:txBody>
          <a:bodyPr wrap="square" lIns="0" tIns="0" rIns="0" bIns="0" rtlCol="0" anchor="t"/>
          <a:lstStyle/>
          <a:p>
            <a:pPr indent="0" marL="0">
              <a:spcAft>
                <a:spcPts val="200"/>
              </a:spcAft>
              <a:buNone/>
            </a:pPr>
            <a:r>
              <a:rPr lang="en-US" sz="1600" b="1" dirty="0">
                <a:solidFill>
                  <a:schemeClr val="accent2"/>
                </a:solidFill>
              </a:rPr>
              <a:t>Duplicates, gaps and overdrafts</a:t>
            </a:r>
            <a:endParaRPr lang="en-US" sz="1600" dirty="0"/>
          </a:p>
          <a:p>
            <a:pPr indent="0" marL="0">
              <a:spcAft>
                <a:spcPts val="200"/>
              </a:spcAft>
              <a:buNone/>
            </a:pPr>
            <a:r>
              <a:rPr lang="en-US" sz="1350" dirty="0">
                <a:solidFill>
                  <a:schemeClr val="tx2"/>
                </a:solidFill>
              </a:rPr>
              <a:t>Two $1,200 checks a day apart; missing checks</a:t>
            </a:r>
            <a:endParaRPr lang="en-US" sz="1600" dirty="0"/>
          </a:p>
        </p:txBody>
      </p:sp>
      <p:sp>
        <p:nvSpPr>
          <p:cNvPr id="21" name="redflags frame"/>
          <p:cNvSpPr/>
          <p:nvPr/>
        </p:nvSpPr>
        <p:spPr>
          <a:xfrm>
            <a:off x="5989320" y="1325880"/>
            <a:ext cx="5650992" cy="4567622"/>
          </a:xfrm>
          <a:prstGeom prst="roundRect">
            <a:avLst>
              <a:gd name="adj" fmla="val 1602"/>
            </a:avLst>
          </a:prstGeom>
          <a:solidFill>
            <a:schemeClr val="bg1"/>
          </a:solidFill>
          <a:ln/>
          <a:effectLst>
            <a:outerShdw sx="100000" sy="100000" kx="0" ky="0" algn="bl" rotWithShape="0" blurRad="101600" dist="25400" dir="5400000">
              <a:srgbClr val="1D2844">
                <a:alpha val="16000"/>
              </a:srgbClr>
            </a:outerShdw>
          </a:effectLst>
        </p:spPr>
      </p:sp>
      <p:pic>
        <p:nvPicPr>
          <p:cNvPr id="22" name="redflags screenshot" descr="Red Flags tab listing fraud patterns found">    </p:cNvPr>
          <p:cNvPicPr>
            <a:picLocks noChangeAspect="1"/>
          </p:cNvPicPr>
          <p:nvPr/>
        </p:nvPicPr>
        <p:blipFill>
          <a:blip r:embed="rId7"/>
          <a:stretch>
            <a:fillRect/>
          </a:stretch>
        </p:blipFill>
        <p:spPr>
          <a:xfrm>
            <a:off x="6080760" y="1417320"/>
            <a:ext cx="5468112" cy="4384742"/>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Step 4: is this the statement the bank produced?</a:t>
            </a:r>
            <a:endParaRPr lang="en-US" sz="3000" dirty="0"/>
          </a:p>
        </p:txBody>
      </p:sp>
      <p:sp>
        <p:nvSpPr>
          <p:cNvPr id="3" name="doc intro"/>
          <p:cNvSpPr txBox="1"/>
          <p:nvPr/>
        </p:nvSpPr>
        <p:spPr>
          <a:xfrm>
            <a:off x="548640" y="1280160"/>
            <a:ext cx="5212080" cy="594360"/>
          </a:xfrm>
          <a:prstGeom prst="rect">
            <a:avLst/>
          </a:prstGeom>
          <a:noFill/>
          <a:ln/>
        </p:spPr>
        <p:txBody>
          <a:bodyPr wrap="square" lIns="0" tIns="0" rIns="0" bIns="0" rtlCol="0" anchor="t"/>
          <a:lstStyle/>
          <a:p>
            <a:pPr indent="0" marL="0">
              <a:buNone/>
            </a:pPr>
            <a:r>
              <a:rPr lang="en-US" sz="1450" dirty="0">
                <a:solidFill>
                  <a:schemeClr val="tx2"/>
                </a:solidFill>
              </a:rPr>
              <a:t>The "family copy" of April hid the casino, wire, cash and CD lines. The edits left nine traces:</a:t>
            </a:r>
            <a:endParaRPr lang="en-US" sz="1450" dirty="0"/>
          </a:p>
        </p:txBody>
      </p:sp>
      <p:sp>
        <p:nvSpPr>
          <p:cNvPr id="4" name="sign dot 1"/>
          <p:cNvSpPr/>
          <p:nvPr/>
        </p:nvSpPr>
        <p:spPr>
          <a:xfrm>
            <a:off x="548640" y="1984248"/>
            <a:ext cx="310896" cy="310896"/>
          </a:xfrm>
          <a:prstGeom prst="ellipse">
            <a:avLst/>
          </a:prstGeom>
          <a:solidFill>
            <a:schemeClr val="accent1"/>
          </a:solidFill>
          <a:ln/>
        </p:spPr>
      </p:sp>
      <p:sp>
        <p:nvSpPr>
          <p:cNvPr id="5" name="sign number 1"/>
          <p:cNvSpPr txBox="1"/>
          <p:nvPr/>
        </p:nvSpPr>
        <p:spPr>
          <a:xfrm>
            <a:off x="548640" y="19842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6" name="sign 1"/>
          <p:cNvSpPr txBox="1"/>
          <p:nvPr/>
        </p:nvSpPr>
        <p:spPr>
          <a:xfrm>
            <a:off x="1005840" y="198424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Made with a PDF editing tool</a:t>
            </a:r>
            <a:endParaRPr lang="en-US" sz="1450" dirty="0"/>
          </a:p>
        </p:txBody>
      </p:sp>
      <p:sp>
        <p:nvSpPr>
          <p:cNvPr id="7" name="sign dot 2"/>
          <p:cNvSpPr/>
          <p:nvPr/>
        </p:nvSpPr>
        <p:spPr>
          <a:xfrm>
            <a:off x="548640" y="2372868"/>
            <a:ext cx="310896" cy="310896"/>
          </a:xfrm>
          <a:prstGeom prst="ellipse">
            <a:avLst/>
          </a:prstGeom>
          <a:solidFill>
            <a:schemeClr val="accent1"/>
          </a:solidFill>
          <a:ln/>
        </p:spPr>
      </p:sp>
      <p:sp>
        <p:nvSpPr>
          <p:cNvPr id="8" name="sign number 2"/>
          <p:cNvSpPr txBox="1"/>
          <p:nvPr/>
        </p:nvSpPr>
        <p:spPr>
          <a:xfrm>
            <a:off x="548640" y="23728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9" name="sign 2"/>
          <p:cNvSpPr txBox="1"/>
          <p:nvPr/>
        </p:nvSpPr>
        <p:spPr>
          <a:xfrm>
            <a:off x="1005840" y="237286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Saved again 52 days after it was created</a:t>
            </a:r>
            <a:endParaRPr lang="en-US" sz="1450" dirty="0"/>
          </a:p>
        </p:txBody>
      </p:sp>
      <p:sp>
        <p:nvSpPr>
          <p:cNvPr id="10" name="sign dot 3"/>
          <p:cNvSpPr/>
          <p:nvPr/>
        </p:nvSpPr>
        <p:spPr>
          <a:xfrm>
            <a:off x="548640" y="2761488"/>
            <a:ext cx="310896" cy="310896"/>
          </a:xfrm>
          <a:prstGeom prst="ellipse">
            <a:avLst/>
          </a:prstGeom>
          <a:solidFill>
            <a:schemeClr val="accent1"/>
          </a:solidFill>
          <a:ln/>
        </p:spPr>
      </p:sp>
      <p:sp>
        <p:nvSpPr>
          <p:cNvPr id="11" name="sign number 3"/>
          <p:cNvSpPr txBox="1"/>
          <p:nvPr/>
        </p:nvSpPr>
        <p:spPr>
          <a:xfrm>
            <a:off x="548640" y="27614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2" name="sign 3"/>
          <p:cNvSpPr txBox="1"/>
          <p:nvPr/>
        </p:nvSpPr>
        <p:spPr>
          <a:xfrm>
            <a:off x="1005840" y="276148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4 transaction lines in a different font</a:t>
            </a:r>
            <a:endParaRPr lang="en-US" sz="1450" dirty="0"/>
          </a:p>
        </p:txBody>
      </p:sp>
      <p:sp>
        <p:nvSpPr>
          <p:cNvPr id="13" name="sign dot 4"/>
          <p:cNvSpPr/>
          <p:nvPr/>
        </p:nvSpPr>
        <p:spPr>
          <a:xfrm>
            <a:off x="548640" y="3150108"/>
            <a:ext cx="310896" cy="310896"/>
          </a:xfrm>
          <a:prstGeom prst="ellipse">
            <a:avLst/>
          </a:prstGeom>
          <a:solidFill>
            <a:schemeClr val="accent2"/>
          </a:solidFill>
          <a:ln/>
        </p:spPr>
      </p:sp>
      <p:sp>
        <p:nvSpPr>
          <p:cNvPr id="14" name="sign number 4"/>
          <p:cNvSpPr txBox="1"/>
          <p:nvPr/>
        </p:nvSpPr>
        <p:spPr>
          <a:xfrm>
            <a:off x="548640" y="31501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5" name="sign 4"/>
          <p:cNvSpPr txBox="1"/>
          <p:nvPr/>
        </p:nvSpPr>
        <p:spPr>
          <a:xfrm>
            <a:off x="1005840" y="315010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A 05/02 purchase inside the April statement</a:t>
            </a:r>
            <a:endParaRPr lang="en-US" sz="1450" dirty="0"/>
          </a:p>
        </p:txBody>
      </p:sp>
      <p:sp>
        <p:nvSpPr>
          <p:cNvPr id="16" name="sign dot 5"/>
          <p:cNvSpPr/>
          <p:nvPr/>
        </p:nvSpPr>
        <p:spPr>
          <a:xfrm>
            <a:off x="548640" y="3538728"/>
            <a:ext cx="310896" cy="310896"/>
          </a:xfrm>
          <a:prstGeom prst="ellipse">
            <a:avLst/>
          </a:prstGeom>
          <a:solidFill>
            <a:schemeClr val="accent2"/>
          </a:solidFill>
          <a:ln/>
        </p:spPr>
      </p:sp>
      <p:sp>
        <p:nvSpPr>
          <p:cNvPr id="17" name="sign number 5"/>
          <p:cNvSpPr txBox="1"/>
          <p:nvPr/>
        </p:nvSpPr>
        <p:spPr>
          <a:xfrm>
            <a:off x="548640" y="353872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18" name="sign 5"/>
          <p:cNvSpPr txBox="1"/>
          <p:nvPr/>
        </p:nvSpPr>
        <p:spPr>
          <a:xfrm>
            <a:off x="1005840" y="353872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Transactions out of date order</a:t>
            </a:r>
            <a:endParaRPr lang="en-US" sz="1450" dirty="0"/>
          </a:p>
        </p:txBody>
      </p:sp>
      <p:sp>
        <p:nvSpPr>
          <p:cNvPr id="19" name="sign dot 6"/>
          <p:cNvSpPr/>
          <p:nvPr/>
        </p:nvSpPr>
        <p:spPr>
          <a:xfrm>
            <a:off x="548640" y="3927348"/>
            <a:ext cx="310896" cy="310896"/>
          </a:xfrm>
          <a:prstGeom prst="ellipse">
            <a:avLst/>
          </a:prstGeom>
          <a:solidFill>
            <a:schemeClr val="accent2"/>
          </a:solidFill>
          <a:ln/>
        </p:spPr>
      </p:sp>
      <p:sp>
        <p:nvSpPr>
          <p:cNvPr id="20" name="sign number 6"/>
          <p:cNvSpPr txBox="1"/>
          <p:nvPr/>
        </p:nvSpPr>
        <p:spPr>
          <a:xfrm>
            <a:off x="548640" y="39273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1" name="sign 6"/>
          <p:cNvSpPr txBox="1"/>
          <p:nvPr/>
        </p:nvSpPr>
        <p:spPr>
          <a:xfrm>
            <a:off x="1005840" y="392734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"Zelle payment FROM" recorded as money out</a:t>
            </a:r>
            <a:endParaRPr lang="en-US" sz="1450" dirty="0"/>
          </a:p>
        </p:txBody>
      </p:sp>
      <p:sp>
        <p:nvSpPr>
          <p:cNvPr id="22" name="sign dot 7"/>
          <p:cNvSpPr/>
          <p:nvPr/>
        </p:nvSpPr>
        <p:spPr>
          <a:xfrm>
            <a:off x="548640" y="4315968"/>
            <a:ext cx="310896" cy="310896"/>
          </a:xfrm>
          <a:prstGeom prst="ellipse">
            <a:avLst/>
          </a:prstGeom>
          <a:solidFill>
            <a:schemeClr val="accent2"/>
          </a:solidFill>
          <a:ln/>
        </p:spPr>
      </p:sp>
      <p:sp>
        <p:nvSpPr>
          <p:cNvPr id="23" name="sign number 7"/>
          <p:cNvSpPr txBox="1"/>
          <p:nvPr/>
        </p:nvSpPr>
        <p:spPr>
          <a:xfrm>
            <a:off x="548640" y="431596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24" name="sign 7"/>
          <p:cNvSpPr txBox="1"/>
          <p:nvPr/>
        </p:nvSpPr>
        <p:spPr>
          <a:xfrm>
            <a:off x="1005840" y="431596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Running balances break at two checks</a:t>
            </a:r>
            <a:endParaRPr lang="en-US" sz="1450" dirty="0"/>
          </a:p>
        </p:txBody>
      </p:sp>
      <p:sp>
        <p:nvSpPr>
          <p:cNvPr id="25" name="sign dot 8"/>
          <p:cNvSpPr/>
          <p:nvPr/>
        </p:nvSpPr>
        <p:spPr>
          <a:xfrm>
            <a:off x="548640" y="4704588"/>
            <a:ext cx="310896" cy="310896"/>
          </a:xfrm>
          <a:prstGeom prst="ellipse">
            <a:avLst/>
          </a:prstGeom>
          <a:solidFill>
            <a:schemeClr val="accent2"/>
          </a:solidFill>
          <a:ln/>
        </p:spPr>
      </p:sp>
      <p:sp>
        <p:nvSpPr>
          <p:cNvPr id="26" name="sign number 8"/>
          <p:cNvSpPr txBox="1"/>
          <p:nvPr/>
        </p:nvSpPr>
        <p:spPr>
          <a:xfrm>
            <a:off x="548640" y="470458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27" name="sign 8"/>
          <p:cNvSpPr txBox="1"/>
          <p:nvPr/>
        </p:nvSpPr>
        <p:spPr>
          <a:xfrm>
            <a:off x="1005840" y="470458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Summary deposits off by $1,500.00</a:t>
            </a:r>
            <a:endParaRPr lang="en-US" sz="1450" dirty="0"/>
          </a:p>
        </p:txBody>
      </p:sp>
      <p:sp>
        <p:nvSpPr>
          <p:cNvPr id="28" name="sign dot 9"/>
          <p:cNvSpPr/>
          <p:nvPr/>
        </p:nvSpPr>
        <p:spPr>
          <a:xfrm>
            <a:off x="548640" y="5093208"/>
            <a:ext cx="310896" cy="310896"/>
          </a:xfrm>
          <a:prstGeom prst="ellipse">
            <a:avLst/>
          </a:prstGeom>
          <a:solidFill>
            <a:schemeClr val="accent2"/>
          </a:solidFill>
          <a:ln/>
        </p:spPr>
      </p:sp>
      <p:sp>
        <p:nvSpPr>
          <p:cNvPr id="29" name="sign number 9"/>
          <p:cNvSpPr txBox="1"/>
          <p:nvPr/>
        </p:nvSpPr>
        <p:spPr>
          <a:xfrm>
            <a:off x="548640" y="50932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30" name="sign 9"/>
          <p:cNvSpPr txBox="1"/>
          <p:nvPr/>
        </p:nvSpPr>
        <p:spPr>
          <a:xfrm>
            <a:off x="1005840" y="5093208"/>
            <a:ext cx="4663440" cy="329184"/>
          </a:xfrm>
          <a:prstGeom prst="rect">
            <a:avLst/>
          </a:prstGeom>
          <a:noFill/>
          <a:ln/>
        </p:spPr>
        <p:txBody>
          <a:bodyPr wrap="square" lIns="0" tIns="0" rIns="0" bIns="0" rtlCol="0" anchor="ctr"/>
          <a:lstStyle/>
          <a:p>
            <a:pPr indent="0" marL="0">
              <a:buNone/>
            </a:pPr>
            <a:r>
              <a:rPr lang="en-US" sz="1450" dirty="0">
                <a:solidFill>
                  <a:schemeClr val="accent2"/>
                </a:solidFill>
              </a:rPr>
              <a:t>"$13763.86" typed without its comma</a:t>
            </a:r>
            <a:endParaRPr lang="en-US" sz="1450" dirty="0"/>
          </a:p>
        </p:txBody>
      </p:sp>
      <p:sp>
        <p:nvSpPr>
          <p:cNvPr id="31" name="doc caution"/>
          <p:cNvSpPr/>
          <p:nvPr/>
        </p:nvSpPr>
        <p:spPr>
          <a:xfrm>
            <a:off x="548640" y="5532120"/>
            <a:ext cx="5212080" cy="640080"/>
          </a:xfrm>
          <a:prstGeom prst="roundRect">
            <a:avLst>
              <a:gd name="adj" fmla="val 11429"/>
            </a:avLst>
          </a:prstGeom>
          <a:solidFill>
            <a:schemeClr val="accent4"/>
          </a:solidFill>
          <a:ln/>
          <a:effectLst>
            <a:outerShdw sx="100000" sy="100000" kx="0" ky="0" algn="bl" rotWithShape="0" blurRad="101600" dist="25400" dir="5400000">
              <a:srgbClr val="1D2844">
                <a:alpha val="16000"/>
              </a:srgbClr>
            </a:outerShdw>
          </a:effectLst>
        </p:spPr>
      </p:sp>
      <p:sp>
        <p:nvSpPr>
          <p:cNvPr id="32" name="doc caution text"/>
          <p:cNvSpPr txBox="1"/>
          <p:nvPr/>
        </p:nvSpPr>
        <p:spPr>
          <a:xfrm>
            <a:off x="731520" y="5577840"/>
            <a:ext cx="4892040" cy="548640"/>
          </a:xfrm>
          <a:prstGeom prst="rect">
            <a:avLst/>
          </a:prstGeom>
          <a:noFill/>
          <a:ln/>
        </p:spPr>
        <p:txBody>
          <a:bodyPr wrap="square" lIns="0" tIns="0" rIns="0" bIns="0" rtlCol="0" anchor="ctr"/>
          <a:lstStyle/>
          <a:p>
            <a:pPr indent="0" marL="0">
              <a:buNone/>
            </a:pPr>
            <a:r>
              <a:rPr lang="en-US" sz="1350" b="1" dirty="0">
                <a:solidFill>
                  <a:schemeClr val="accent2"/>
                </a:solidFill>
              </a:rPr>
              <a:t>None of these proves fraud alone. When it matters, get the statement from the bank.</a:t>
            </a:r>
            <a:endParaRPr lang="en-US" sz="1350" dirty="0"/>
          </a:p>
        </p:txBody>
      </p:sp>
      <p:sp>
        <p:nvSpPr>
          <p:cNvPr id="33" name="doccheck frame"/>
          <p:cNvSpPr/>
          <p:nvPr/>
        </p:nvSpPr>
        <p:spPr>
          <a:xfrm>
            <a:off x="5989320" y="1325880"/>
            <a:ext cx="5650992" cy="4557370"/>
          </a:xfrm>
          <a:prstGeom prst="roundRect">
            <a:avLst>
              <a:gd name="adj" fmla="val 1605"/>
            </a:avLst>
          </a:prstGeom>
          <a:solidFill>
            <a:schemeClr val="bg1"/>
          </a:solidFill>
          <a:ln/>
          <a:effectLst>
            <a:outerShdw sx="100000" sy="100000" kx="0" ky="0" algn="bl" rotWithShape="0" blurRad="101600" dist="25400" dir="5400000">
              <a:srgbClr val="1D2844">
                <a:alpha val="16000"/>
              </a:srgbClr>
            </a:outerShdw>
          </a:effectLst>
        </p:spPr>
      </p:sp>
      <p:pic>
        <p:nvPicPr>
          <p:cNvPr id="34" name="doccheck screenshot" descr="Document Check tab listing signs of editing">    </p:cNvPr>
          <p:cNvPicPr>
            <a:picLocks noChangeAspect="1"/>
          </p:cNvPicPr>
          <p:nvPr/>
        </p:nvPicPr>
        <p:blipFill>
          <a:blip r:embed="rId1"/>
          <a:stretch>
            <a:fillRect/>
          </a:stretch>
        </p:blipFill>
        <p:spPr>
          <a:xfrm>
            <a:off x="6080760" y="1417320"/>
            <a:ext cx="5468112" cy="4374490"/>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The analyzer checks its own work</a:t>
            </a:r>
            <a:endParaRPr lang="en-US" sz="3000" dirty="0"/>
          </a:p>
        </p:txBody>
      </p:sp>
      <p:sp>
        <p:nvSpPr>
          <p:cNvPr id="3" name="Reconciled card"/>
          <p:cNvSpPr/>
          <p:nvPr/>
        </p:nvSpPr>
        <p:spPr>
          <a:xfrm>
            <a:off x="548640" y="1417320"/>
            <a:ext cx="5166360" cy="1417320"/>
          </a:xfrm>
          <a:prstGeom prst="roundRect">
            <a:avLst>
              <a:gd name="adj" fmla="val 5161"/>
            </a:avLst>
          </a:prstGeom>
          <a:solidFill>
            <a:schemeClr val="bg1"/>
          </a:solidFill>
          <a:ln/>
          <a:effectLst>
            <a:outerShdw sx="100000" sy="100000" kx="0" ky="0" algn="bl" rotWithShape="0" blurRad="101600" dist="25400" dir="5400000">
              <a:srgbClr val="1D2844">
                <a:alpha val="16000"/>
              </a:srgbClr>
            </a:outerShdw>
          </a:effectLst>
        </p:spPr>
      </p:sp>
      <p:sp>
        <p:nvSpPr>
          <p:cNvPr id="4" name="Reconciled circle"/>
          <p:cNvSpPr/>
          <p:nvPr/>
        </p:nvSpPr>
        <p:spPr>
          <a:xfrm>
            <a:off x="822960" y="1783080"/>
            <a:ext cx="658368" cy="658368"/>
          </a:xfrm>
          <a:prstGeom prst="ellipse">
            <a:avLst/>
          </a:prstGeom>
          <a:solidFill>
            <a:schemeClr val="accent6"/>
          </a:solidFill>
          <a:ln/>
        </p:spPr>
      </p:sp>
      <p:pic>
        <p:nvPicPr>
          <p:cNvPr id="5" name="Reconciled icon" descr="preencoded.png">    </p:cNvPr>
          <p:cNvPicPr>
            <a:picLocks noChangeAspect="1"/>
          </p:cNvPicPr>
          <p:nvPr/>
        </p:nvPicPr>
        <p:blipFill>
          <a:blip r:embed="rId1"/>
          <a:stretch>
            <a:fillRect/>
          </a:stretch>
        </p:blipFill>
        <p:spPr>
          <a:xfrm>
            <a:off x="987552" y="1947672"/>
            <a:ext cx="329184" cy="329184"/>
          </a:xfrm>
          <a:prstGeom prst="rect">
            <a:avLst/>
          </a:prstGeom>
        </p:spPr>
      </p:pic>
      <p:sp>
        <p:nvSpPr>
          <p:cNvPr id="6" name="Reconciled text"/>
          <p:cNvSpPr txBox="1"/>
          <p:nvPr/>
        </p:nvSpPr>
        <p:spPr>
          <a:xfrm>
            <a:off x="1737360" y="1618488"/>
            <a:ext cx="3794760" cy="1097280"/>
          </a:xfrm>
          <a:prstGeom prst="rect">
            <a:avLst/>
          </a:prstGeom>
          <a:noFill/>
          <a:ln/>
        </p:spPr>
        <p:txBody>
          <a:bodyPr wrap="square" lIns="0" tIns="0" rIns="0" bIns="0" rtlCol="0" anchor="t"/>
          <a:lstStyle/>
          <a:p>
            <a:pPr indent="0" marL="0">
              <a:spcAft>
                <a:spcPts val="300"/>
              </a:spcAft>
              <a:buNone/>
            </a:pPr>
            <a:r>
              <a:rPr lang="en-US" sz="1900" b="1" dirty="0">
                <a:solidFill>
                  <a:schemeClr val="accent6"/>
                </a:solidFill>
              </a:rPr>
              <a:t>Reconciled</a:t>
            </a:r>
            <a:endParaRPr lang="en-US" sz="1900" dirty="0"/>
          </a:p>
          <a:p>
            <a:pPr indent="0" marL="0">
              <a:spcAft>
                <a:spcPts val="300"/>
              </a:spcAft>
              <a:buNone/>
            </a:pPr>
            <a:r>
              <a:rPr lang="en-US" sz="1400" dirty="0">
                <a:solidFill>
                  <a:schemeClr val="accent2"/>
                </a:solidFill>
              </a:rPr>
              <a:t>Beginning balance, plus money in, minus money out, agrees with the balance the bank printed.</a:t>
            </a:r>
            <a:endParaRPr lang="en-US" sz="1900" dirty="0"/>
          </a:p>
        </p:txBody>
      </p:sp>
      <p:sp>
        <p:nvSpPr>
          <p:cNvPr id="7" name="Variance card"/>
          <p:cNvSpPr/>
          <p:nvPr/>
        </p:nvSpPr>
        <p:spPr>
          <a:xfrm>
            <a:off x="548640" y="2999232"/>
            <a:ext cx="5166360" cy="1417320"/>
          </a:xfrm>
          <a:prstGeom prst="roundRect">
            <a:avLst>
              <a:gd name="adj" fmla="val 5161"/>
            </a:avLst>
          </a:prstGeom>
          <a:solidFill>
            <a:schemeClr val="bg1"/>
          </a:solidFill>
          <a:ln/>
          <a:effectLst>
            <a:outerShdw sx="100000" sy="100000" kx="0" ky="0" algn="bl" rotWithShape="0" blurRad="101600" dist="25400" dir="5400000">
              <a:srgbClr val="1D2844">
                <a:alpha val="16000"/>
              </a:srgbClr>
            </a:outerShdw>
          </a:effectLst>
        </p:spPr>
      </p:sp>
      <p:sp>
        <p:nvSpPr>
          <p:cNvPr id="8" name="Variance circle"/>
          <p:cNvSpPr/>
          <p:nvPr/>
        </p:nvSpPr>
        <p:spPr>
          <a:xfrm>
            <a:off x="822960" y="3364992"/>
            <a:ext cx="658368" cy="658368"/>
          </a:xfrm>
          <a:prstGeom prst="ellipse">
            <a:avLst/>
          </a:prstGeom>
          <a:solidFill>
            <a:schemeClr val="accent5"/>
          </a:solidFill>
          <a:ln/>
        </p:spPr>
      </p:sp>
      <p:pic>
        <p:nvPicPr>
          <p:cNvPr id="9" name="Variance icon" descr="preencoded.png">    </p:cNvPr>
          <p:cNvPicPr>
            <a:picLocks noChangeAspect="1"/>
          </p:cNvPicPr>
          <p:nvPr/>
        </p:nvPicPr>
        <p:blipFill>
          <a:blip r:embed="rId2"/>
          <a:stretch>
            <a:fillRect/>
          </a:stretch>
        </p:blipFill>
        <p:spPr>
          <a:xfrm>
            <a:off x="987552" y="3529584"/>
            <a:ext cx="329184" cy="329184"/>
          </a:xfrm>
          <a:prstGeom prst="rect">
            <a:avLst/>
          </a:prstGeom>
        </p:spPr>
      </p:pic>
      <p:sp>
        <p:nvSpPr>
          <p:cNvPr id="10" name="Variance text"/>
          <p:cNvSpPr txBox="1"/>
          <p:nvPr/>
        </p:nvSpPr>
        <p:spPr>
          <a:xfrm>
            <a:off x="1737360" y="3200400"/>
            <a:ext cx="3794760" cy="1097280"/>
          </a:xfrm>
          <a:prstGeom prst="rect">
            <a:avLst/>
          </a:prstGeom>
          <a:noFill/>
          <a:ln/>
        </p:spPr>
        <p:txBody>
          <a:bodyPr wrap="square" lIns="0" tIns="0" rIns="0" bIns="0" rtlCol="0" anchor="t"/>
          <a:lstStyle/>
          <a:p>
            <a:pPr indent="0" marL="0">
              <a:spcAft>
                <a:spcPts val="300"/>
              </a:spcAft>
              <a:buNone/>
            </a:pPr>
            <a:r>
              <a:rPr lang="en-US" sz="1900" b="1" dirty="0">
                <a:solidFill>
                  <a:schemeClr val="accent5"/>
                </a:solidFill>
              </a:rPr>
              <a:t>Variance</a:t>
            </a:r>
            <a:endParaRPr lang="en-US" sz="1900" dirty="0"/>
          </a:p>
          <a:p>
            <a:pPr indent="0" marL="0">
              <a:spcAft>
                <a:spcPts val="300"/>
              </a:spcAft>
              <a:buNone/>
            </a:pPr>
            <a:r>
              <a:rPr lang="en-US" sz="1400" dirty="0">
                <a:solidFill>
                  <a:schemeClr val="accent2"/>
                </a:solidFill>
              </a:rPr>
              <a:t>The numbers don't tie: a line was missed or misread, or the statement was edited.</a:t>
            </a:r>
            <a:endParaRPr lang="en-US" sz="1900" dirty="0"/>
          </a:p>
        </p:txBody>
      </p:sp>
      <p:sp>
        <p:nvSpPr>
          <p:cNvPr id="11" name="Needs Review card"/>
          <p:cNvSpPr/>
          <p:nvPr/>
        </p:nvSpPr>
        <p:spPr>
          <a:xfrm>
            <a:off x="548640" y="4581144"/>
            <a:ext cx="5166360" cy="1417320"/>
          </a:xfrm>
          <a:prstGeom prst="roundRect">
            <a:avLst>
              <a:gd name="adj" fmla="val 5161"/>
            </a:avLst>
          </a:prstGeom>
          <a:solidFill>
            <a:schemeClr val="bg1"/>
          </a:solidFill>
          <a:ln/>
          <a:effectLst>
            <a:outerShdw sx="100000" sy="100000" kx="0" ky="0" algn="bl" rotWithShape="0" blurRad="101600" dist="25400" dir="5400000">
              <a:srgbClr val="1D2844">
                <a:alpha val="16000"/>
              </a:srgbClr>
            </a:outerShdw>
          </a:effectLst>
        </p:spPr>
      </p:sp>
      <p:sp>
        <p:nvSpPr>
          <p:cNvPr id="12" name="Needs Review circle"/>
          <p:cNvSpPr/>
          <p:nvPr/>
        </p:nvSpPr>
        <p:spPr>
          <a:xfrm>
            <a:off x="822960" y="4946904"/>
            <a:ext cx="658368" cy="658368"/>
          </a:xfrm>
          <a:prstGeom prst="ellipse">
            <a:avLst/>
          </a:prstGeom>
          <a:solidFill>
            <a:schemeClr val="accent3"/>
          </a:solidFill>
          <a:ln/>
        </p:spPr>
      </p:sp>
      <p:pic>
        <p:nvPicPr>
          <p:cNvPr id="13" name="Needs Review icon" descr="preencoded.png">    </p:cNvPr>
          <p:cNvPicPr>
            <a:picLocks noChangeAspect="1"/>
          </p:cNvPicPr>
          <p:nvPr/>
        </p:nvPicPr>
        <p:blipFill>
          <a:blip r:embed="rId3"/>
          <a:stretch>
            <a:fillRect/>
          </a:stretch>
        </p:blipFill>
        <p:spPr>
          <a:xfrm>
            <a:off x="987552" y="5111496"/>
            <a:ext cx="329184" cy="329184"/>
          </a:xfrm>
          <a:prstGeom prst="rect">
            <a:avLst/>
          </a:prstGeom>
        </p:spPr>
      </p:pic>
      <p:sp>
        <p:nvSpPr>
          <p:cNvPr id="14" name="Needs Review text"/>
          <p:cNvSpPr txBox="1"/>
          <p:nvPr/>
        </p:nvSpPr>
        <p:spPr>
          <a:xfrm>
            <a:off x="1737360" y="4782312"/>
            <a:ext cx="3794760" cy="1097280"/>
          </a:xfrm>
          <a:prstGeom prst="rect">
            <a:avLst/>
          </a:prstGeom>
          <a:noFill/>
          <a:ln/>
        </p:spPr>
        <p:txBody>
          <a:bodyPr wrap="square" lIns="0" tIns="0" rIns="0" bIns="0" rtlCol="0" anchor="t"/>
          <a:lstStyle/>
          <a:p>
            <a:pPr indent="0" marL="0">
              <a:spcAft>
                <a:spcPts val="300"/>
              </a:spcAft>
              <a:buNone/>
            </a:pPr>
            <a:r>
              <a:rPr lang="en-US" sz="1900" b="1" dirty="0">
                <a:solidFill>
                  <a:schemeClr val="accent3"/>
                </a:solidFill>
              </a:rPr>
              <a:t>Needs Review</a:t>
            </a:r>
            <a:endParaRPr lang="en-US" sz="1900" dirty="0"/>
          </a:p>
          <a:p>
            <a:pPr indent="0" marL="0">
              <a:spcAft>
                <a:spcPts val="300"/>
              </a:spcAft>
              <a:buNone/>
            </a:pPr>
            <a:r>
              <a:rPr lang="en-US" sz="1400" dirty="0">
                <a:solidFill>
                  <a:schemeClr val="accent2"/>
                </a:solidFill>
              </a:rPr>
              <a:t>The statement didn't print enough to check against. Compare it by hand.</a:t>
            </a:r>
            <a:endParaRPr lang="en-US" sz="1900" dirty="0"/>
          </a:p>
        </p:txBody>
      </p:sp>
      <p:sp>
        <p:nvSpPr>
          <p:cNvPr id="15" name="reconciliation frame"/>
          <p:cNvSpPr/>
          <p:nvPr/>
        </p:nvSpPr>
        <p:spPr>
          <a:xfrm>
            <a:off x="5989320" y="1325880"/>
            <a:ext cx="5650992" cy="4567622"/>
          </a:xfrm>
          <a:prstGeom prst="roundRect">
            <a:avLst>
              <a:gd name="adj" fmla="val 1602"/>
            </a:avLst>
          </a:prstGeom>
          <a:solidFill>
            <a:schemeClr val="bg1"/>
          </a:solidFill>
          <a:ln/>
          <a:effectLst>
            <a:outerShdw sx="100000" sy="100000" kx="0" ky="0" algn="bl" rotWithShape="0" blurRad="101600" dist="25400" dir="5400000">
              <a:srgbClr val="1D2844">
                <a:alpha val="16000"/>
              </a:srgbClr>
            </a:outerShdw>
          </a:effectLst>
        </p:spPr>
      </p:sp>
      <p:pic>
        <p:nvPicPr>
          <p:cNvPr id="16" name="reconciliation screenshot" descr="Bank Reconciliation tab showing reconciled statements">    </p:cNvPr>
          <p:cNvPicPr>
            <a:picLocks noChangeAspect="1"/>
          </p:cNvPicPr>
          <p:nvPr/>
        </p:nvPicPr>
        <p:blipFill>
          <a:blip r:embed="rId4"/>
          <a:stretch>
            <a:fillRect/>
          </a:stretch>
        </p:blipFill>
        <p:spPr>
          <a:xfrm>
            <a:off x="6080760" y="1417320"/>
            <a:ext cx="5468112" cy="4384742"/>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Step 5: workpapers that hold up</a:t>
            </a:r>
            <a:endParaRPr lang="en-US" sz="3000" dirty="0"/>
          </a:p>
        </p:txBody>
      </p:sp>
      <p:sp>
        <p:nvSpPr>
          <p:cNvPr id="3" name="Forensic workpaper circle"/>
          <p:cNvSpPr/>
          <p:nvPr/>
        </p:nvSpPr>
        <p:spPr>
          <a:xfrm>
            <a:off x="548640" y="1463040"/>
            <a:ext cx="603504" cy="603504"/>
          </a:xfrm>
          <a:prstGeom prst="ellipse">
            <a:avLst/>
          </a:prstGeom>
          <a:solidFill>
            <a:schemeClr val="accent2"/>
          </a:solidFill>
          <a:ln/>
        </p:spPr>
      </p:sp>
      <p:pic>
        <p:nvPicPr>
          <p:cNvPr id="4" name="Forensic workpaper icon" descr="preencoded.png">    </p:cNvPr>
          <p:cNvPicPr>
            <a:picLocks noChangeAspect="1"/>
          </p:cNvPicPr>
          <p:nvPr/>
        </p:nvPicPr>
        <p:blipFill>
          <a:blip r:embed="rId1"/>
          <a:stretch>
            <a:fillRect/>
          </a:stretch>
        </p:blipFill>
        <p:spPr>
          <a:xfrm>
            <a:off x="699516" y="1613916"/>
            <a:ext cx="301752" cy="301752"/>
          </a:xfrm>
          <a:prstGeom prst="rect">
            <a:avLst/>
          </a:prstGeom>
        </p:spPr>
      </p:pic>
      <p:sp>
        <p:nvSpPr>
          <p:cNvPr id="5" name="Forensic workpaper text"/>
          <p:cNvSpPr txBox="1"/>
          <p:nvPr/>
        </p:nvSpPr>
        <p:spPr>
          <a:xfrm>
            <a:off x="1380744" y="1444752"/>
            <a:ext cx="4334256" cy="1115568"/>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Forensic workpaper</a:t>
            </a:r>
            <a:endParaRPr lang="en-US" sz="1700" dirty="0"/>
          </a:p>
          <a:p>
            <a:pPr indent="0" marL="0">
              <a:spcAft>
                <a:spcPts val="200"/>
              </a:spcAft>
              <a:buNone/>
            </a:pPr>
            <a:r>
              <a:rPr lang="en-US" sz="1400" dirty="0">
                <a:solidFill>
                  <a:schemeClr val="tx2"/>
                </a:solidFill>
              </a:rPr>
              <a:t>Every transaction with its source file, page and line, plus the flags and document checks.</a:t>
            </a:r>
            <a:endParaRPr lang="en-US" sz="1700" dirty="0"/>
          </a:p>
        </p:txBody>
      </p:sp>
      <p:sp>
        <p:nvSpPr>
          <p:cNvPr id="6" name="Financial statements circle"/>
          <p:cNvSpPr/>
          <p:nvPr/>
        </p:nvSpPr>
        <p:spPr>
          <a:xfrm>
            <a:off x="548640" y="2651760"/>
            <a:ext cx="603504" cy="603504"/>
          </a:xfrm>
          <a:prstGeom prst="ellipse">
            <a:avLst/>
          </a:prstGeom>
          <a:solidFill>
            <a:schemeClr val="accent2"/>
          </a:solidFill>
          <a:ln/>
        </p:spPr>
      </p:sp>
      <p:pic>
        <p:nvPicPr>
          <p:cNvPr id="7" name="Financial statements icon" descr="preencoded.png">    </p:cNvPr>
          <p:cNvPicPr>
            <a:picLocks noChangeAspect="1"/>
          </p:cNvPicPr>
          <p:nvPr/>
        </p:nvPicPr>
        <p:blipFill>
          <a:blip r:embed="rId2"/>
          <a:stretch>
            <a:fillRect/>
          </a:stretch>
        </p:blipFill>
        <p:spPr>
          <a:xfrm>
            <a:off x="699516" y="2802636"/>
            <a:ext cx="301752" cy="301752"/>
          </a:xfrm>
          <a:prstGeom prst="rect">
            <a:avLst/>
          </a:prstGeom>
        </p:spPr>
      </p:pic>
      <p:sp>
        <p:nvSpPr>
          <p:cNvPr id="8" name="Financial statements text"/>
          <p:cNvSpPr txBox="1"/>
          <p:nvPr/>
        </p:nvSpPr>
        <p:spPr>
          <a:xfrm>
            <a:off x="1380744" y="2633472"/>
            <a:ext cx="4334256" cy="1115568"/>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Financial statements</a:t>
            </a:r>
            <a:endParaRPr lang="en-US" sz="1700" dirty="0"/>
          </a:p>
          <a:p>
            <a:pPr indent="0" marL="0">
              <a:spcAft>
                <a:spcPts val="200"/>
              </a:spcAft>
              <a:buNone/>
            </a:pPr>
            <a:r>
              <a:rPr lang="en-US" sz="1400" dirty="0">
                <a:solidFill>
                  <a:schemeClr val="tx2"/>
                </a:solidFill>
              </a:rPr>
              <a:t>Monthly activity and cash position, built from the reconciliation.</a:t>
            </a:r>
            <a:endParaRPr lang="en-US" sz="1700" dirty="0"/>
          </a:p>
        </p:txBody>
      </p:sp>
      <p:sp>
        <p:nvSpPr>
          <p:cNvPr id="9" name="Evidence record circle"/>
          <p:cNvSpPr/>
          <p:nvPr/>
        </p:nvSpPr>
        <p:spPr>
          <a:xfrm>
            <a:off x="548640" y="3840480"/>
            <a:ext cx="603504" cy="603504"/>
          </a:xfrm>
          <a:prstGeom prst="ellipse">
            <a:avLst/>
          </a:prstGeom>
          <a:solidFill>
            <a:schemeClr val="accent2"/>
          </a:solidFill>
          <a:ln/>
        </p:spPr>
      </p:sp>
      <p:pic>
        <p:nvPicPr>
          <p:cNvPr id="10" name="Evidence record icon" descr="preencoded.png">    </p:cNvPr>
          <p:cNvPicPr>
            <a:picLocks noChangeAspect="1"/>
          </p:cNvPicPr>
          <p:nvPr/>
        </p:nvPicPr>
        <p:blipFill>
          <a:blip r:embed="rId3"/>
          <a:stretch>
            <a:fillRect/>
          </a:stretch>
        </p:blipFill>
        <p:spPr>
          <a:xfrm>
            <a:off x="699516" y="3991356"/>
            <a:ext cx="301752" cy="301752"/>
          </a:xfrm>
          <a:prstGeom prst="rect">
            <a:avLst/>
          </a:prstGeom>
        </p:spPr>
      </p:pic>
      <p:sp>
        <p:nvSpPr>
          <p:cNvPr id="11" name="Evidence record text"/>
          <p:cNvSpPr txBox="1"/>
          <p:nvPr/>
        </p:nvSpPr>
        <p:spPr>
          <a:xfrm>
            <a:off x="1380744" y="3822192"/>
            <a:ext cx="4334256" cy="1115568"/>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Evidence record</a:t>
            </a:r>
            <a:endParaRPr lang="en-US" sz="1700" dirty="0"/>
          </a:p>
          <a:p>
            <a:pPr indent="0" marL="0">
              <a:spcAft>
                <a:spcPts val="200"/>
              </a:spcAft>
              <a:buNone/>
            </a:pPr>
            <a:r>
              <a:rPr lang="en-US" sz="1400" dirty="0">
                <a:solidFill>
                  <a:schemeClr val="tx2"/>
                </a:solidFill>
              </a:rPr>
              <a:t>A SHA-256 fingerprint of each statement, so anyone can confirm it's the same file.</a:t>
            </a:r>
            <a:endParaRPr lang="en-US" sz="1700" dirty="0"/>
          </a:p>
        </p:txBody>
      </p:sp>
      <p:sp>
        <p:nvSpPr>
          <p:cNvPr id="12" name="Encrypted projects circle"/>
          <p:cNvSpPr/>
          <p:nvPr/>
        </p:nvSpPr>
        <p:spPr>
          <a:xfrm>
            <a:off x="548640" y="5029200"/>
            <a:ext cx="603504" cy="603504"/>
          </a:xfrm>
          <a:prstGeom prst="ellipse">
            <a:avLst/>
          </a:prstGeom>
          <a:solidFill>
            <a:schemeClr val="accent2"/>
          </a:solidFill>
          <a:ln/>
        </p:spPr>
      </p:sp>
      <p:pic>
        <p:nvPicPr>
          <p:cNvPr id="13" name="Encrypted projects icon" descr="preencoded.png">    </p:cNvPr>
          <p:cNvPicPr>
            <a:picLocks noChangeAspect="1"/>
          </p:cNvPicPr>
          <p:nvPr/>
        </p:nvPicPr>
        <p:blipFill>
          <a:blip r:embed="rId4"/>
          <a:stretch>
            <a:fillRect/>
          </a:stretch>
        </p:blipFill>
        <p:spPr>
          <a:xfrm>
            <a:off x="699516" y="5180076"/>
            <a:ext cx="301752" cy="301752"/>
          </a:xfrm>
          <a:prstGeom prst="rect">
            <a:avLst/>
          </a:prstGeom>
        </p:spPr>
      </p:pic>
      <p:sp>
        <p:nvSpPr>
          <p:cNvPr id="14" name="Encrypted projects text"/>
          <p:cNvSpPr txBox="1"/>
          <p:nvPr/>
        </p:nvSpPr>
        <p:spPr>
          <a:xfrm>
            <a:off x="1380744" y="5010912"/>
            <a:ext cx="4334256" cy="1115568"/>
          </a:xfrm>
          <a:prstGeom prst="rect">
            <a:avLst/>
          </a:prstGeom>
          <a:noFill/>
          <a:ln/>
        </p:spPr>
        <p:txBody>
          <a:bodyPr wrap="square" lIns="0" tIns="0" rIns="0" bIns="0" rtlCol="0" anchor="t"/>
          <a:lstStyle/>
          <a:p>
            <a:pPr indent="0" marL="0">
              <a:spcAft>
                <a:spcPts val="200"/>
              </a:spcAft>
              <a:buNone/>
            </a:pPr>
            <a:r>
              <a:rPr lang="en-US" sz="1700" b="1" dirty="0">
                <a:solidFill>
                  <a:schemeClr val="accent2"/>
                </a:solidFill>
              </a:rPr>
              <a:t>Encrypted projects</a:t>
            </a:r>
            <a:endParaRPr lang="en-US" sz="1700" dirty="0"/>
          </a:p>
          <a:p>
            <a:pPr indent="0" marL="0">
              <a:spcAft>
                <a:spcPts val="200"/>
              </a:spcAft>
              <a:buNone/>
            </a:pPr>
            <a:r>
              <a:rPr lang="en-US" sz="1400" dirty="0">
                <a:solidFill>
                  <a:schemeClr val="tx2"/>
                </a:solidFill>
              </a:rPr>
              <a:t>Statements, notes and the case log, locked with your password.</a:t>
            </a:r>
            <a:endParaRPr lang="en-US" sz="1700" dirty="0"/>
          </a:p>
        </p:txBody>
      </p:sp>
      <p:sp>
        <p:nvSpPr>
          <p:cNvPr id="15" name="downloads frame"/>
          <p:cNvSpPr/>
          <p:nvPr/>
        </p:nvSpPr>
        <p:spPr>
          <a:xfrm>
            <a:off x="5989320" y="1417320"/>
            <a:ext cx="5650992" cy="3846515"/>
          </a:xfrm>
          <a:prstGeom prst="roundRect">
            <a:avLst>
              <a:gd name="adj" fmla="val 1902"/>
            </a:avLst>
          </a:prstGeom>
          <a:solidFill>
            <a:schemeClr val="bg1"/>
          </a:solidFill>
          <a:ln/>
          <a:effectLst>
            <a:outerShdw sx="100000" sy="100000" kx="0" ky="0" algn="bl" rotWithShape="0" blurRad="101600" dist="25400" dir="5400000">
              <a:srgbClr val="1D2844">
                <a:alpha val="16000"/>
              </a:srgbClr>
            </a:outerShdw>
          </a:effectLst>
        </p:spPr>
      </p:sp>
      <p:pic>
        <p:nvPicPr>
          <p:cNvPr id="16" name="downloads screenshot" descr="Download Workpapers tab with the evidence record">    </p:cNvPr>
          <p:cNvPicPr>
            <a:picLocks noChangeAspect="1"/>
          </p:cNvPicPr>
          <p:nvPr/>
        </p:nvPicPr>
        <p:blipFill>
          <a:blip r:embed="rId5"/>
          <a:stretch>
            <a:fillRect/>
          </a:stretch>
        </p:blipFill>
        <p:spPr>
          <a:xfrm>
            <a:off x="6080760" y="1508760"/>
            <a:ext cx="5468112" cy="3663635"/>
          </a:xfrm>
          <a:prstGeom prst="rect">
            <a:avLst/>
          </a:prstGeom>
        </p:spPr>
      </p:pic>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Where do the statements go?</a:t>
            </a:r>
            <a:endParaRPr lang="en-US" sz="3000" dirty="0"/>
          </a:p>
        </p:txBody>
      </p:sp>
      <p:sp>
        <p:nvSpPr>
          <p:cNvPr id="3" name="On your computer card"/>
          <p:cNvSpPr/>
          <p:nvPr/>
        </p:nvSpPr>
        <p:spPr>
          <a:xfrm>
            <a:off x="548640" y="1417320"/>
            <a:ext cx="3520440" cy="397764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4" name="On your computer circle"/>
          <p:cNvSpPr/>
          <p:nvPr/>
        </p:nvSpPr>
        <p:spPr>
          <a:xfrm>
            <a:off x="868680" y="1737360"/>
            <a:ext cx="731520" cy="731520"/>
          </a:xfrm>
          <a:prstGeom prst="ellipse">
            <a:avLst/>
          </a:prstGeom>
          <a:solidFill>
            <a:schemeClr val="accent2"/>
          </a:solidFill>
          <a:ln/>
        </p:spPr>
      </p:sp>
      <p:pic>
        <p:nvPicPr>
          <p:cNvPr id="5" name="On your computer icon" descr="preencoded.png">    </p:cNvPr>
          <p:cNvPicPr>
            <a:picLocks noChangeAspect="1"/>
          </p:cNvPicPr>
          <p:nvPr/>
        </p:nvPicPr>
        <p:blipFill>
          <a:blip r:embed="rId1"/>
          <a:stretch>
            <a:fillRect/>
          </a:stretch>
        </p:blipFill>
        <p:spPr>
          <a:xfrm>
            <a:off x="1051560" y="1920240"/>
            <a:ext cx="365760" cy="365760"/>
          </a:xfrm>
          <a:prstGeom prst="rect">
            <a:avLst/>
          </a:prstGeom>
        </p:spPr>
      </p:pic>
      <p:sp>
        <p:nvSpPr>
          <p:cNvPr id="6" name="On your computer heading"/>
          <p:cNvSpPr txBox="1"/>
          <p:nvPr/>
        </p:nvSpPr>
        <p:spPr>
          <a:xfrm>
            <a:off x="868680" y="2651760"/>
            <a:ext cx="2971800" cy="457200"/>
          </a:xfrm>
          <a:prstGeom prst="rect">
            <a:avLst/>
          </a:prstGeom>
          <a:noFill/>
          <a:ln/>
        </p:spPr>
        <p:txBody>
          <a:bodyPr wrap="square" lIns="0" tIns="0" rIns="0" bIns="0" rtlCol="0" anchor="t"/>
          <a:lstStyle/>
          <a:p>
            <a:pPr indent="0" marL="0">
              <a:buNone/>
            </a:pPr>
            <a:r>
              <a:rPr lang="en-US" sz="2100" dirty="0">
                <a:solidFill>
                  <a:schemeClr val="accent2"/>
                </a:solidFill>
                <a:latin typeface="Cambria" pitchFamily="34" charset="0"/>
                <a:ea typeface="Cambria" pitchFamily="34" charset="-122"/>
                <a:cs typeface="Cambria" pitchFamily="34" charset="-120"/>
              </a:rPr>
              <a:t>On your computer</a:t>
            </a:r>
            <a:endParaRPr lang="en-US" sz="2100" dirty="0"/>
          </a:p>
        </p:txBody>
      </p:sp>
      <p:sp>
        <p:nvSpPr>
          <p:cNvPr id="7" name="On your computer tag"/>
          <p:cNvSpPr txBox="1"/>
          <p:nvPr/>
        </p:nvSpPr>
        <p:spPr>
          <a:xfrm>
            <a:off x="868680" y="3108960"/>
            <a:ext cx="2971800" cy="320040"/>
          </a:xfrm>
          <a:prstGeom prst="rect">
            <a:avLst/>
          </a:prstGeom>
          <a:noFill/>
          <a:ln/>
        </p:spPr>
        <p:txBody>
          <a:bodyPr wrap="square" lIns="0" tIns="0" rIns="0" bIns="0" rtlCol="0" anchor="t"/>
          <a:lstStyle/>
          <a:p>
            <a:pPr indent="0" marL="0">
              <a:buNone/>
            </a:pPr>
            <a:r>
              <a:rPr lang="en-US" sz="1200" b="1" spc="150" kern="0" dirty="0">
                <a:solidFill>
                  <a:schemeClr val="accent6"/>
                </a:solidFill>
              </a:rPr>
              <a:t>USE FOR REAL CASES</a:t>
            </a:r>
            <a:endParaRPr lang="en-US" sz="1200" dirty="0"/>
          </a:p>
        </p:txBody>
      </p:sp>
      <p:sp>
        <p:nvSpPr>
          <p:cNvPr id="8" name="On your computer items"/>
          <p:cNvSpPr txBox="1"/>
          <p:nvPr/>
        </p:nvSpPr>
        <p:spPr>
          <a:xfrm>
            <a:off x="868680" y="3566160"/>
            <a:ext cx="297180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2"/>
                </a:solidFill>
              </a:rPr>
              <a:t>Statements never leave your computer</a:t>
            </a:r>
            <a:endParaRPr lang="en-US" sz="1600" dirty="0"/>
          </a:p>
          <a:p>
            <a:pPr marL="342900" indent="-342900">
              <a:spcAft>
                <a:spcPts val="800"/>
              </a:spcAft>
              <a:buSzPct val="100000"/>
              <a:buChar char="•"/>
            </a:pPr>
            <a:r>
              <a:rPr lang="en-US" sz="1600" dirty="0">
                <a:solidFill>
                  <a:schemeClr val="accent2"/>
                </a:solidFill>
              </a:rPr>
              <a:t>Reads scanned pages with OCR</a:t>
            </a:r>
            <a:endParaRPr lang="en-US" sz="1600" dirty="0"/>
          </a:p>
          <a:p>
            <a:pPr marL="342900" indent="-342900">
              <a:spcAft>
                <a:spcPts val="800"/>
              </a:spcAft>
              <a:buSzPct val="100000"/>
              <a:buChar char="•"/>
            </a:pPr>
            <a:r>
              <a:rPr lang="en-US" sz="1600" dirty="0">
                <a:solidFill>
                  <a:schemeClr val="accent2"/>
                </a:solidFill>
              </a:rPr>
              <a:t>Start with start.bat (Windows) or start.sh (Mac)</a:t>
            </a:r>
            <a:endParaRPr lang="en-US" sz="1600" dirty="0"/>
          </a:p>
        </p:txBody>
      </p:sp>
      <p:sp>
        <p:nvSpPr>
          <p:cNvPr id="9" name="Your university's copy card"/>
          <p:cNvSpPr/>
          <p:nvPr/>
        </p:nvSpPr>
        <p:spPr>
          <a:xfrm>
            <a:off x="4297680" y="1417320"/>
            <a:ext cx="3520440" cy="397764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10" name="Your university's copy circle"/>
          <p:cNvSpPr/>
          <p:nvPr/>
        </p:nvSpPr>
        <p:spPr>
          <a:xfrm>
            <a:off x="4617720" y="1737360"/>
            <a:ext cx="731520" cy="731520"/>
          </a:xfrm>
          <a:prstGeom prst="ellipse">
            <a:avLst/>
          </a:prstGeom>
          <a:solidFill>
            <a:schemeClr val="accent2"/>
          </a:solidFill>
          <a:ln/>
        </p:spPr>
      </p:sp>
      <p:pic>
        <p:nvPicPr>
          <p:cNvPr id="11" name="Your university's copy icon" descr="preencoded.png">    </p:cNvPr>
          <p:cNvPicPr>
            <a:picLocks noChangeAspect="1"/>
          </p:cNvPicPr>
          <p:nvPr/>
        </p:nvPicPr>
        <p:blipFill>
          <a:blip r:embed="rId2"/>
          <a:stretch>
            <a:fillRect/>
          </a:stretch>
        </p:blipFill>
        <p:spPr>
          <a:xfrm>
            <a:off x="4800600" y="1920240"/>
            <a:ext cx="365760" cy="365760"/>
          </a:xfrm>
          <a:prstGeom prst="rect">
            <a:avLst/>
          </a:prstGeom>
        </p:spPr>
      </p:pic>
      <p:sp>
        <p:nvSpPr>
          <p:cNvPr id="12" name="Your university&amp;apos;s copy heading"/>
          <p:cNvSpPr txBox="1"/>
          <p:nvPr/>
        </p:nvSpPr>
        <p:spPr>
          <a:xfrm>
            <a:off x="4617720" y="2651760"/>
            <a:ext cx="2971800" cy="457200"/>
          </a:xfrm>
          <a:prstGeom prst="rect">
            <a:avLst/>
          </a:prstGeom>
          <a:noFill/>
          <a:ln/>
        </p:spPr>
        <p:txBody>
          <a:bodyPr wrap="square" lIns="0" tIns="0" rIns="0" bIns="0" rtlCol="0" anchor="t"/>
          <a:lstStyle/>
          <a:p>
            <a:pPr indent="0" marL="0">
              <a:buNone/>
            </a:pPr>
            <a:r>
              <a:rPr lang="en-US" sz="2100" dirty="0">
                <a:solidFill>
                  <a:schemeClr val="accent2"/>
                </a:solidFill>
                <a:latin typeface="Cambria" pitchFamily="34" charset="0"/>
                <a:ea typeface="Cambria" pitchFamily="34" charset="-122"/>
                <a:cs typeface="Cambria" pitchFamily="34" charset="-120"/>
              </a:rPr>
              <a:t>Your university's copy</a:t>
            </a:r>
            <a:endParaRPr lang="en-US" sz="2100" dirty="0"/>
          </a:p>
        </p:txBody>
      </p:sp>
      <p:sp>
        <p:nvSpPr>
          <p:cNvPr id="13" name="Your university&amp;apos;s copy tag"/>
          <p:cNvSpPr txBox="1"/>
          <p:nvPr/>
        </p:nvSpPr>
        <p:spPr>
          <a:xfrm>
            <a:off x="4617720" y="3108960"/>
            <a:ext cx="2971800" cy="320040"/>
          </a:xfrm>
          <a:prstGeom prst="rect">
            <a:avLst/>
          </a:prstGeom>
          <a:noFill/>
          <a:ln/>
        </p:spPr>
        <p:txBody>
          <a:bodyPr wrap="square" lIns="0" tIns="0" rIns="0" bIns="0" rtlCol="0" anchor="t"/>
          <a:lstStyle/>
          <a:p>
            <a:pPr indent="0" marL="0">
              <a:buNone/>
            </a:pPr>
            <a:r>
              <a:rPr lang="en-US" sz="1200" b="1" spc="150" kern="0" dirty="0">
                <a:solidFill>
                  <a:schemeClr val="accent1"/>
                </a:solidFill>
              </a:rPr>
              <a:t>USE FOR REAL CASES</a:t>
            </a:r>
            <a:endParaRPr lang="en-US" sz="1200" dirty="0"/>
          </a:p>
        </p:txBody>
      </p:sp>
      <p:sp>
        <p:nvSpPr>
          <p:cNvPr id="14" name="Your university's copy items"/>
          <p:cNvSpPr txBox="1"/>
          <p:nvPr/>
        </p:nvSpPr>
        <p:spPr>
          <a:xfrm>
            <a:off x="4617720" y="3566160"/>
            <a:ext cx="297180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2"/>
                </a:solidFill>
              </a:rPr>
              <a:t>Runs inside the school's own domain</a:t>
            </a:r>
            <a:endParaRPr lang="en-US" sz="1600" dirty="0"/>
          </a:p>
          <a:p>
            <a:pPr marL="342900" indent="-342900">
              <a:spcAft>
                <a:spcPts val="800"/>
              </a:spcAft>
              <a:buSzPct val="100000"/>
              <a:buChar char="•"/>
            </a:pPr>
            <a:r>
              <a:rPr lang="en-US" sz="1600" dirty="0">
                <a:solidFill>
                  <a:schemeClr val="accent2"/>
                </a:solidFill>
              </a:rPr>
              <a:t>Students sign in with the school login</a:t>
            </a:r>
            <a:endParaRPr lang="en-US" sz="1600" dirty="0"/>
          </a:p>
          <a:p>
            <a:pPr marL="342900" indent="-342900">
              <a:spcAft>
                <a:spcPts val="800"/>
              </a:spcAft>
              <a:buSzPct val="100000"/>
              <a:buChar char="•"/>
            </a:pPr>
            <a:r>
              <a:rPr lang="en-US" sz="1600" dirty="0">
                <a:solidFill>
                  <a:schemeClr val="accent2"/>
                </a:solidFill>
              </a:rPr>
              <a:t>No requests to outside servers</a:t>
            </a:r>
            <a:endParaRPr lang="en-US" sz="1600" dirty="0"/>
          </a:p>
        </p:txBody>
      </p:sp>
      <p:sp>
        <p:nvSpPr>
          <p:cNvPr id="15" name="The online demo card"/>
          <p:cNvSpPr/>
          <p:nvPr/>
        </p:nvSpPr>
        <p:spPr>
          <a:xfrm>
            <a:off x="8046720" y="1417320"/>
            <a:ext cx="3520440" cy="397764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16" name="The online demo circle"/>
          <p:cNvSpPr/>
          <p:nvPr/>
        </p:nvSpPr>
        <p:spPr>
          <a:xfrm>
            <a:off x="8366760" y="1737360"/>
            <a:ext cx="731520" cy="731520"/>
          </a:xfrm>
          <a:prstGeom prst="ellipse">
            <a:avLst/>
          </a:prstGeom>
          <a:solidFill>
            <a:schemeClr val="accent2"/>
          </a:solidFill>
          <a:ln/>
        </p:spPr>
      </p:sp>
      <p:pic>
        <p:nvPicPr>
          <p:cNvPr id="17" name="The online demo icon" descr="preencoded.png">    </p:cNvPr>
          <p:cNvPicPr>
            <a:picLocks noChangeAspect="1"/>
          </p:cNvPicPr>
          <p:nvPr/>
        </p:nvPicPr>
        <p:blipFill>
          <a:blip r:embed="rId3"/>
          <a:stretch>
            <a:fillRect/>
          </a:stretch>
        </p:blipFill>
        <p:spPr>
          <a:xfrm>
            <a:off x="8549640" y="1920240"/>
            <a:ext cx="365760" cy="365760"/>
          </a:xfrm>
          <a:prstGeom prst="rect">
            <a:avLst/>
          </a:prstGeom>
        </p:spPr>
      </p:pic>
      <p:sp>
        <p:nvSpPr>
          <p:cNvPr id="18" name="The online demo heading"/>
          <p:cNvSpPr txBox="1"/>
          <p:nvPr/>
        </p:nvSpPr>
        <p:spPr>
          <a:xfrm>
            <a:off x="8366760" y="2651760"/>
            <a:ext cx="2971800" cy="457200"/>
          </a:xfrm>
          <a:prstGeom prst="rect">
            <a:avLst/>
          </a:prstGeom>
          <a:noFill/>
          <a:ln/>
        </p:spPr>
        <p:txBody>
          <a:bodyPr wrap="square" lIns="0" tIns="0" rIns="0" bIns="0" rtlCol="0" anchor="t"/>
          <a:lstStyle/>
          <a:p>
            <a:pPr indent="0" marL="0">
              <a:buNone/>
            </a:pPr>
            <a:r>
              <a:rPr lang="en-US" sz="2100" dirty="0">
                <a:solidFill>
                  <a:schemeClr val="accent2"/>
                </a:solidFill>
                <a:latin typeface="Cambria" pitchFamily="34" charset="0"/>
                <a:ea typeface="Cambria" pitchFamily="34" charset="-122"/>
                <a:cs typeface="Cambria" pitchFamily="34" charset="-120"/>
              </a:rPr>
              <a:t>The online demo</a:t>
            </a:r>
            <a:endParaRPr lang="en-US" sz="2100" dirty="0"/>
          </a:p>
        </p:txBody>
      </p:sp>
      <p:sp>
        <p:nvSpPr>
          <p:cNvPr id="19" name="The online demo tag"/>
          <p:cNvSpPr txBox="1"/>
          <p:nvPr/>
        </p:nvSpPr>
        <p:spPr>
          <a:xfrm>
            <a:off x="8366760" y="3108960"/>
            <a:ext cx="2971800" cy="320040"/>
          </a:xfrm>
          <a:prstGeom prst="rect">
            <a:avLst/>
          </a:prstGeom>
          <a:noFill/>
          <a:ln/>
        </p:spPr>
        <p:txBody>
          <a:bodyPr wrap="square" lIns="0" tIns="0" rIns="0" bIns="0" rtlCol="0" anchor="t"/>
          <a:lstStyle/>
          <a:p>
            <a:pPr indent="0" marL="0">
              <a:buNone/>
            </a:pPr>
            <a:r>
              <a:rPr lang="en-US" sz="1200" b="1" spc="150" kern="0" dirty="0">
                <a:solidFill>
                  <a:schemeClr val="accent5"/>
                </a:solidFill>
              </a:rPr>
              <a:t>FICTIONAL SAMPLES ONLY</a:t>
            </a:r>
            <a:endParaRPr lang="en-US" sz="1200" dirty="0"/>
          </a:p>
        </p:txBody>
      </p:sp>
      <p:sp>
        <p:nvSpPr>
          <p:cNvPr id="20" name="The online demo items"/>
          <p:cNvSpPr txBox="1"/>
          <p:nvPr/>
        </p:nvSpPr>
        <p:spPr>
          <a:xfrm>
            <a:off x="8366760" y="3566160"/>
            <a:ext cx="2971800" cy="1828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accent2"/>
                </a:solidFill>
              </a:rPr>
              <a:t>For practice and for this webinar</a:t>
            </a:r>
            <a:endParaRPr lang="en-US" sz="1600" dirty="0"/>
          </a:p>
          <a:p>
            <a:pPr marL="342900" indent="-342900">
              <a:spcAft>
                <a:spcPts val="800"/>
              </a:spcAft>
              <a:buSzPct val="100000"/>
              <a:buChar char="•"/>
            </a:pPr>
            <a:r>
              <a:rPr lang="en-US" sz="1600" dirty="0">
                <a:solidFill>
                  <a:schemeClr val="accent2"/>
                </a:solidFill>
              </a:rPr>
              <a:t>Never upload real statements</a:t>
            </a:r>
            <a:endParaRPr lang="en-US" sz="1600" dirty="0"/>
          </a:p>
          <a:p>
            <a:pPr marL="342900" indent="-342900">
              <a:spcAft>
                <a:spcPts val="800"/>
              </a:spcAft>
              <a:buSzPct val="100000"/>
              <a:buChar char="•"/>
            </a:pPr>
            <a:r>
              <a:rPr lang="en-US" sz="1600" dirty="0">
                <a:solidFill>
                  <a:schemeClr val="accent2"/>
                </a:solidFill>
              </a:rPr>
              <a:t>Shows a demo-copy banner</a:t>
            </a:r>
            <a:endParaRPr lang="en-US" sz="1600" dirty="0"/>
          </a:p>
        </p:txBody>
      </p:sp>
      <p:sp>
        <p:nvSpPr>
          <p:cNvPr id="21" name="security note"/>
          <p:cNvSpPr txBox="1"/>
          <p:nvPr/>
        </p:nvSpPr>
        <p:spPr>
          <a:xfrm>
            <a:off x="548640" y="5623560"/>
            <a:ext cx="11064240" cy="411480"/>
          </a:xfrm>
          <a:prstGeom prst="rect">
            <a:avLst/>
          </a:prstGeom>
          <a:noFill/>
          <a:ln/>
        </p:spPr>
        <p:txBody>
          <a:bodyPr wrap="square" lIns="0" tIns="0" rIns="0" bIns="0" rtlCol="0" anchor="t"/>
          <a:lstStyle/>
          <a:p>
            <a:pPr algn="ctr" indent="0" marL="0">
              <a:buNone/>
            </a:pPr>
            <a:r>
              <a:rPr lang="en-US" sz="1500" i="1" dirty="0">
                <a:solidFill>
                  <a:schemeClr val="accent1"/>
                </a:solidFill>
              </a:rPr>
              <a:t>Projects are encrypted (AES-256). Passwords are never stored. The code is open source, so anyone can inspect it.</a:t>
            </a:r>
            <a:endParaRPr lang="en-US" sz="15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Getting started after today</a:t>
            </a:r>
            <a:endParaRPr lang="en-US" sz="3000" dirty="0"/>
          </a:p>
        </p:txBody>
      </p:sp>
      <p:sp>
        <p:nvSpPr>
          <p:cNvPr id="3" name="Try the demo card"/>
          <p:cNvSpPr/>
          <p:nvPr/>
        </p:nvSpPr>
        <p:spPr>
          <a:xfrm>
            <a:off x="548640" y="1463040"/>
            <a:ext cx="3520440" cy="361188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4" name="step label 1"/>
          <p:cNvSpPr txBox="1"/>
          <p:nvPr/>
        </p:nvSpPr>
        <p:spPr>
          <a:xfrm>
            <a:off x="868680" y="1783080"/>
            <a:ext cx="18288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STEP 1</a:t>
            </a:r>
            <a:endParaRPr lang="en-US" sz="1200" dirty="0"/>
          </a:p>
        </p:txBody>
      </p:sp>
      <p:sp>
        <p:nvSpPr>
          <p:cNvPr id="5" name="Try the demo circle"/>
          <p:cNvSpPr/>
          <p:nvPr/>
        </p:nvSpPr>
        <p:spPr>
          <a:xfrm>
            <a:off x="3017520" y="1737360"/>
            <a:ext cx="731520" cy="731520"/>
          </a:xfrm>
          <a:prstGeom prst="ellipse">
            <a:avLst/>
          </a:prstGeom>
          <a:solidFill>
            <a:schemeClr val="accent1"/>
          </a:solidFill>
          <a:ln/>
        </p:spPr>
      </p:sp>
      <p:pic>
        <p:nvPicPr>
          <p:cNvPr id="6" name="Try the demo icon" descr="preencoded.png">    </p:cNvPr>
          <p:cNvPicPr>
            <a:picLocks noChangeAspect="1"/>
          </p:cNvPicPr>
          <p:nvPr/>
        </p:nvPicPr>
        <p:blipFill>
          <a:blip r:embed="rId1"/>
          <a:stretch>
            <a:fillRect/>
          </a:stretch>
        </p:blipFill>
        <p:spPr>
          <a:xfrm>
            <a:off x="3200400" y="1920240"/>
            <a:ext cx="365760" cy="365760"/>
          </a:xfrm>
          <a:prstGeom prst="rect">
            <a:avLst/>
          </a:prstGeom>
        </p:spPr>
      </p:pic>
      <p:sp>
        <p:nvSpPr>
          <p:cNvPr id="7" name="step text 1"/>
          <p:cNvSpPr txBox="1"/>
          <p:nvPr/>
        </p:nvSpPr>
        <p:spPr>
          <a:xfrm>
            <a:off x="868680" y="2697480"/>
            <a:ext cx="2926080" cy="2286000"/>
          </a:xfrm>
          <a:prstGeom prst="rect">
            <a:avLst/>
          </a:prstGeom>
          <a:noFill/>
          <a:ln/>
        </p:spPr>
        <p:txBody>
          <a:bodyPr wrap="square" lIns="0" tIns="0" rIns="0" bIns="0" rtlCol="0" anchor="t"/>
          <a:lstStyle/>
          <a:p>
            <a:pPr indent="0" marL="0">
              <a:spcAft>
                <a:spcPts val="800"/>
              </a:spcAft>
              <a:buNone/>
            </a:pPr>
            <a:r>
              <a:rPr lang="en-US" sz="2200" dirty="0">
                <a:solidFill>
                  <a:schemeClr val="accent2"/>
                </a:solidFill>
                <a:latin typeface="Cambria" pitchFamily="34" charset="0"/>
                <a:ea typeface="Cambria" pitchFamily="34" charset="-122"/>
                <a:cs typeface="Cambria" pitchFamily="34" charset="-120"/>
              </a:rPr>
              <a:t>Try the demo</a:t>
            </a:r>
            <a:endParaRPr lang="en-US" sz="2200" dirty="0"/>
          </a:p>
          <a:p>
            <a:pPr indent="0" marL="0">
              <a:spcAft>
                <a:spcPts val="800"/>
              </a:spcAft>
              <a:buNone/>
            </a:pPr>
            <a:r>
              <a:rPr lang="en-US" sz="1600" dirty="0">
                <a:solidFill>
                  <a:schemeClr val="tx2"/>
                </a:solidFill>
              </a:rPr>
              <a:t>Load the Hartwell samples and work through the case yourself. Can you find all nine edits?</a:t>
            </a:r>
            <a:endParaRPr lang="en-US" sz="2200" dirty="0"/>
          </a:p>
        </p:txBody>
      </p:sp>
      <p:sp>
        <p:nvSpPr>
          <p:cNvPr id="8" name="Install it card"/>
          <p:cNvSpPr/>
          <p:nvPr/>
        </p:nvSpPr>
        <p:spPr>
          <a:xfrm>
            <a:off x="4297680" y="1463040"/>
            <a:ext cx="3520440" cy="361188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9" name="step label 2"/>
          <p:cNvSpPr txBox="1"/>
          <p:nvPr/>
        </p:nvSpPr>
        <p:spPr>
          <a:xfrm>
            <a:off x="4617720" y="1783080"/>
            <a:ext cx="18288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STEP 2</a:t>
            </a:r>
            <a:endParaRPr lang="en-US" sz="1200" dirty="0"/>
          </a:p>
        </p:txBody>
      </p:sp>
      <p:sp>
        <p:nvSpPr>
          <p:cNvPr id="10" name="Install it circle"/>
          <p:cNvSpPr/>
          <p:nvPr/>
        </p:nvSpPr>
        <p:spPr>
          <a:xfrm>
            <a:off x="6766560" y="1737360"/>
            <a:ext cx="731520" cy="731520"/>
          </a:xfrm>
          <a:prstGeom prst="ellipse">
            <a:avLst/>
          </a:prstGeom>
          <a:solidFill>
            <a:schemeClr val="accent2"/>
          </a:solidFill>
          <a:ln/>
        </p:spPr>
      </p:sp>
      <p:pic>
        <p:nvPicPr>
          <p:cNvPr id="11" name="Install it icon" descr="preencoded.png">    </p:cNvPr>
          <p:cNvPicPr>
            <a:picLocks noChangeAspect="1"/>
          </p:cNvPicPr>
          <p:nvPr/>
        </p:nvPicPr>
        <p:blipFill>
          <a:blip r:embed="rId2"/>
          <a:stretch>
            <a:fillRect/>
          </a:stretch>
        </p:blipFill>
        <p:spPr>
          <a:xfrm>
            <a:off x="6949440" y="1920240"/>
            <a:ext cx="365760" cy="365760"/>
          </a:xfrm>
          <a:prstGeom prst="rect">
            <a:avLst/>
          </a:prstGeom>
        </p:spPr>
      </p:pic>
      <p:sp>
        <p:nvSpPr>
          <p:cNvPr id="12" name="step text 2"/>
          <p:cNvSpPr txBox="1"/>
          <p:nvPr/>
        </p:nvSpPr>
        <p:spPr>
          <a:xfrm>
            <a:off x="4617720" y="2697480"/>
            <a:ext cx="2926080" cy="2286000"/>
          </a:xfrm>
          <a:prstGeom prst="rect">
            <a:avLst/>
          </a:prstGeom>
          <a:noFill/>
          <a:ln/>
        </p:spPr>
        <p:txBody>
          <a:bodyPr wrap="square" lIns="0" tIns="0" rIns="0" bIns="0" rtlCol="0" anchor="t"/>
          <a:lstStyle/>
          <a:p>
            <a:pPr indent="0" marL="0">
              <a:spcAft>
                <a:spcPts val="800"/>
              </a:spcAft>
              <a:buNone/>
            </a:pPr>
            <a:r>
              <a:rPr lang="en-US" sz="2200" dirty="0">
                <a:solidFill>
                  <a:schemeClr val="accent2"/>
                </a:solidFill>
                <a:latin typeface="Cambria" pitchFamily="34" charset="0"/>
                <a:ea typeface="Cambria" pitchFamily="34" charset="-122"/>
                <a:cs typeface="Cambria" pitchFamily="34" charset="-120"/>
              </a:rPr>
              <a:t>Install it</a:t>
            </a:r>
            <a:endParaRPr lang="en-US" sz="2200" dirty="0"/>
          </a:p>
          <a:p>
            <a:pPr indent="0" marL="0">
              <a:spcAft>
                <a:spcPts val="800"/>
              </a:spcAft>
              <a:buNone/>
            </a:pPr>
            <a:r>
              <a:rPr lang="en-US" sz="1600" dirty="0">
                <a:solidFill>
                  <a:schemeClr val="tx2"/>
                </a:solidFill>
              </a:rPr>
              <a:t>Install Python 3.11 or newer, download the app, then double-click start.bat (Windows) or run start.sh (Mac).</a:t>
            </a:r>
            <a:endParaRPr lang="en-US" sz="2200" dirty="0"/>
          </a:p>
        </p:txBody>
      </p:sp>
      <p:sp>
        <p:nvSpPr>
          <p:cNvPr id="13" name="Read the guides card"/>
          <p:cNvSpPr/>
          <p:nvPr/>
        </p:nvSpPr>
        <p:spPr>
          <a:xfrm>
            <a:off x="8046720" y="1463040"/>
            <a:ext cx="3520440" cy="361188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14" name="step label 3"/>
          <p:cNvSpPr txBox="1"/>
          <p:nvPr/>
        </p:nvSpPr>
        <p:spPr>
          <a:xfrm>
            <a:off x="8366760" y="1783080"/>
            <a:ext cx="18288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STEP 3</a:t>
            </a:r>
            <a:endParaRPr lang="en-US" sz="1200" dirty="0"/>
          </a:p>
        </p:txBody>
      </p:sp>
      <p:sp>
        <p:nvSpPr>
          <p:cNvPr id="15" name="Read the guides circle"/>
          <p:cNvSpPr/>
          <p:nvPr/>
        </p:nvSpPr>
        <p:spPr>
          <a:xfrm>
            <a:off x="10515600" y="1737360"/>
            <a:ext cx="731520" cy="731520"/>
          </a:xfrm>
          <a:prstGeom prst="ellipse">
            <a:avLst/>
          </a:prstGeom>
          <a:solidFill>
            <a:schemeClr val="accent2"/>
          </a:solidFill>
          <a:ln/>
        </p:spPr>
      </p:sp>
      <p:pic>
        <p:nvPicPr>
          <p:cNvPr id="16" name="Read the guides icon" descr="preencoded.png">    </p:cNvPr>
          <p:cNvPicPr>
            <a:picLocks noChangeAspect="1"/>
          </p:cNvPicPr>
          <p:nvPr/>
        </p:nvPicPr>
        <p:blipFill>
          <a:blip r:embed="rId3"/>
          <a:stretch>
            <a:fillRect/>
          </a:stretch>
        </p:blipFill>
        <p:spPr>
          <a:xfrm>
            <a:off x="10698480" y="1920240"/>
            <a:ext cx="365760" cy="365760"/>
          </a:xfrm>
          <a:prstGeom prst="rect">
            <a:avLst/>
          </a:prstGeom>
        </p:spPr>
      </p:pic>
      <p:sp>
        <p:nvSpPr>
          <p:cNvPr id="17" name="step text 3"/>
          <p:cNvSpPr txBox="1"/>
          <p:nvPr/>
        </p:nvSpPr>
        <p:spPr>
          <a:xfrm>
            <a:off x="8366760" y="2697480"/>
            <a:ext cx="2926080" cy="2286000"/>
          </a:xfrm>
          <a:prstGeom prst="rect">
            <a:avLst/>
          </a:prstGeom>
          <a:noFill/>
          <a:ln/>
        </p:spPr>
        <p:txBody>
          <a:bodyPr wrap="square" lIns="0" tIns="0" rIns="0" bIns="0" rtlCol="0" anchor="t"/>
          <a:lstStyle/>
          <a:p>
            <a:pPr indent="0" marL="0">
              <a:spcAft>
                <a:spcPts val="800"/>
              </a:spcAft>
              <a:buNone/>
            </a:pPr>
            <a:r>
              <a:rPr lang="en-US" sz="2200" dirty="0">
                <a:solidFill>
                  <a:schemeClr val="accent2"/>
                </a:solidFill>
                <a:latin typeface="Cambria" pitchFamily="34" charset="0"/>
                <a:ea typeface="Cambria" pitchFamily="34" charset="-122"/>
                <a:cs typeface="Cambria" pitchFamily="34" charset="-120"/>
              </a:rPr>
              <a:t>Read the guides</a:t>
            </a:r>
            <a:endParaRPr lang="en-US" sz="2200" dirty="0"/>
          </a:p>
          <a:p>
            <a:pPr indent="0" marL="0">
              <a:spcAft>
                <a:spcPts val="800"/>
              </a:spcAft>
              <a:buNone/>
            </a:pPr>
            <a:r>
              <a:rPr lang="en-US" sz="1600" dirty="0">
                <a:solidFill>
                  <a:schemeClr val="tx2"/>
                </a:solidFill>
              </a:rPr>
              <a:t>The User Guide walks through every tab. Both guides are linked in the app's sidebar.</a:t>
            </a:r>
            <a:endParaRPr lang="en-US" sz="2200" dirty="0"/>
          </a:p>
        </p:txBody>
      </p:sp>
      <p:sp>
        <p:nvSpPr>
          <p:cNvPr id="18" name="download card"/>
          <p:cNvSpPr/>
          <p:nvPr/>
        </p:nvSpPr>
        <p:spPr>
          <a:xfrm>
            <a:off x="548640" y="5349240"/>
            <a:ext cx="11018520" cy="731520"/>
          </a:xfrm>
          <a:prstGeom prst="roundRect">
            <a:avLst>
              <a:gd name="adj" fmla="val 10000"/>
            </a:avLst>
          </a:prstGeom>
          <a:solidFill>
            <a:schemeClr val="accent4"/>
          </a:solidFill>
          <a:ln/>
          <a:effectLst>
            <a:outerShdw sx="100000" sy="100000" kx="0" ky="0" algn="bl" rotWithShape="0" blurRad="101600" dist="25400" dir="5400000">
              <a:srgbClr val="1D2844">
                <a:alpha val="16000"/>
              </a:srgbClr>
            </a:outerShdw>
          </a:effectLst>
        </p:spPr>
      </p:sp>
      <p:sp>
        <p:nvSpPr>
          <p:cNvPr id="19" name="download link"/>
          <p:cNvSpPr txBox="1"/>
          <p:nvPr/>
        </p:nvSpPr>
        <p:spPr>
          <a:xfrm>
            <a:off x="822960" y="5349240"/>
            <a:ext cx="10515600" cy="731520"/>
          </a:xfrm>
          <a:prstGeom prst="rect">
            <a:avLst/>
          </a:prstGeom>
          <a:noFill/>
          <a:ln/>
        </p:spPr>
        <p:txBody>
          <a:bodyPr wrap="square" lIns="0" tIns="0" rIns="0" bIns="0" rtlCol="0" anchor="ctr"/>
          <a:lstStyle/>
          <a:p>
            <a:pPr indent="0" marL="0">
              <a:buNone/>
            </a:pPr>
            <a:r>
              <a:rPr lang="en-US" sz="1600" b="1" dirty="0">
                <a:solidFill>
                  <a:schemeClr val="accent2"/>
                </a:solidFill>
              </a:rPr>
              <a:t>Download:  </a:t>
            </a:r>
            <a:pPr indent="0" marL="0">
              <a:buNone/>
            </a:pPr>
            <a:r>
              <a:rPr lang="en-US" sz="160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github.com/jdaiken/parsing_tool</a:t>
            </a:r>
            <a:pPr indent="0" marL="0">
              <a:buNone/>
            </a:pPr>
            <a:r>
              <a:rPr lang="en-US" sz="1600" dirty="0">
                <a:solidFill>
                  <a:schemeClr val="tx2"/>
                </a:solidFill>
              </a:rPr>
              <a:t>   ·   Free and open source (Apache 2.0)</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Bringing it to your university</a:t>
            </a:r>
            <a:endParaRPr lang="en-US" sz="3000" dirty="0"/>
          </a:p>
        </p:txBody>
      </p:sp>
      <p:sp>
        <p:nvSpPr>
          <p:cNvPr id="3" name="Browser build card"/>
          <p:cNvSpPr/>
          <p:nvPr/>
        </p:nvSpPr>
        <p:spPr>
          <a:xfrm>
            <a:off x="548640" y="1417320"/>
            <a:ext cx="5394960" cy="352044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4" name="Browser build circle"/>
          <p:cNvSpPr/>
          <p:nvPr/>
        </p:nvSpPr>
        <p:spPr>
          <a:xfrm>
            <a:off x="914400" y="1783080"/>
            <a:ext cx="777240" cy="777240"/>
          </a:xfrm>
          <a:prstGeom prst="ellipse">
            <a:avLst/>
          </a:prstGeom>
          <a:solidFill>
            <a:schemeClr val="accent1"/>
          </a:solidFill>
          <a:ln/>
        </p:spPr>
      </p:sp>
      <p:pic>
        <p:nvPicPr>
          <p:cNvPr id="5" name="Browser build icon" descr="preencoded.png">    </p:cNvPr>
          <p:cNvPicPr>
            <a:picLocks noChangeAspect="1"/>
          </p:cNvPicPr>
          <p:nvPr/>
        </p:nvPicPr>
        <p:blipFill>
          <a:blip r:embed="rId1"/>
          <a:stretch>
            <a:fillRect/>
          </a:stretch>
        </p:blipFill>
        <p:spPr>
          <a:xfrm>
            <a:off x="1108710" y="1977390"/>
            <a:ext cx="388620" cy="388620"/>
          </a:xfrm>
          <a:prstGeom prst="rect">
            <a:avLst/>
          </a:prstGeom>
        </p:spPr>
      </p:pic>
      <p:sp>
        <p:nvSpPr>
          <p:cNvPr id="6" name="Browser build heading"/>
          <p:cNvSpPr txBox="1"/>
          <p:nvPr/>
        </p:nvSpPr>
        <p:spPr>
          <a:xfrm>
            <a:off x="1920240" y="1783080"/>
            <a:ext cx="3749040" cy="822960"/>
          </a:xfrm>
          <a:prstGeom prst="rect">
            <a:avLst/>
          </a:prstGeom>
          <a:noFill/>
          <a:ln/>
        </p:spPr>
        <p:txBody>
          <a:bodyPr wrap="square" lIns="0" tIns="0" rIns="0" bIns="0" rtlCol="0" anchor="t"/>
          <a:lstStyle/>
          <a:p>
            <a:pPr indent="0" marL="0">
              <a:buNone/>
            </a:pPr>
            <a:r>
              <a:rPr lang="en-US" sz="2300" dirty="0">
                <a:solidFill>
                  <a:schemeClr val="accent2"/>
                </a:solidFill>
                <a:latin typeface="Cambria" pitchFamily="34" charset="0"/>
                <a:ea typeface="Cambria" pitchFamily="34" charset="-122"/>
                <a:cs typeface="Cambria" pitchFamily="34" charset="-120"/>
              </a:rPr>
              <a:t>Browser build</a:t>
            </a:r>
            <a:endParaRPr lang="en-US" sz="2300" dirty="0"/>
          </a:p>
          <a:p>
            <a:pPr indent="0" marL="0">
              <a:buNone/>
            </a:pPr>
            <a:r>
              <a:rPr lang="en-US" sz="1200" b="1" spc="150" kern="0" dirty="0">
                <a:solidFill>
                  <a:schemeClr val="accent3"/>
                </a:solidFill>
              </a:rPr>
              <a:t>SIMPLEST TO RUN</a:t>
            </a:r>
            <a:endParaRPr lang="en-US" sz="2300" dirty="0"/>
          </a:p>
        </p:txBody>
      </p:sp>
      <p:sp>
        <p:nvSpPr>
          <p:cNvPr id="7" name="Browser build items"/>
          <p:cNvSpPr txBox="1"/>
          <p:nvPr/>
        </p:nvSpPr>
        <p:spPr>
          <a:xfrm>
            <a:off x="914400" y="2834640"/>
            <a:ext cx="47091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accent2"/>
                </a:solidFill>
              </a:rPr>
              <a:t>A folder of files on any school web server</a:t>
            </a:r>
            <a:endParaRPr lang="en-US" sz="1700" dirty="0"/>
          </a:p>
          <a:p>
            <a:pPr marL="342900" indent="-342900">
              <a:spcAft>
                <a:spcPts val="800"/>
              </a:spcAft>
              <a:buSzPct val="100000"/>
              <a:buChar char="•"/>
            </a:pPr>
            <a:r>
              <a:rPr lang="en-US" sz="1700" dirty="0">
                <a:solidFill>
                  <a:schemeClr val="accent2"/>
                </a:solidFill>
              </a:rPr>
              <a:t>Statements are read inside the student's browser and never sent anywhere</a:t>
            </a:r>
            <a:endParaRPr lang="en-US" sz="1700" dirty="0"/>
          </a:p>
          <a:p>
            <a:pPr marL="342900" indent="-342900">
              <a:spcAft>
                <a:spcPts val="800"/>
              </a:spcAft>
              <a:buSzPct val="100000"/>
              <a:buChar char="•"/>
            </a:pPr>
            <a:r>
              <a:rPr lang="en-US" sz="1700" dirty="0">
                <a:solidFill>
                  <a:schemeClr val="accent2"/>
                </a:solidFill>
              </a:rPr>
              <a:t>No server software to maintain</a:t>
            </a:r>
            <a:endParaRPr lang="en-US" sz="1700" dirty="0"/>
          </a:p>
        </p:txBody>
      </p:sp>
      <p:sp>
        <p:nvSpPr>
          <p:cNvPr id="8" name="Server build card"/>
          <p:cNvSpPr/>
          <p:nvPr/>
        </p:nvSpPr>
        <p:spPr>
          <a:xfrm>
            <a:off x="6172200" y="1417320"/>
            <a:ext cx="5394960" cy="3520440"/>
          </a:xfrm>
          <a:prstGeom prst="roundRect">
            <a:avLst>
              <a:gd name="adj" fmla="val 2078"/>
            </a:avLst>
          </a:prstGeom>
          <a:solidFill>
            <a:schemeClr val="bg1"/>
          </a:solidFill>
          <a:ln/>
          <a:effectLst>
            <a:outerShdw sx="100000" sy="100000" kx="0" ky="0" algn="bl" rotWithShape="0" blurRad="101600" dist="25400" dir="5400000">
              <a:srgbClr val="1D2844">
                <a:alpha val="16000"/>
              </a:srgbClr>
            </a:outerShdw>
          </a:effectLst>
        </p:spPr>
      </p:sp>
      <p:sp>
        <p:nvSpPr>
          <p:cNvPr id="9" name="Server build circle"/>
          <p:cNvSpPr/>
          <p:nvPr/>
        </p:nvSpPr>
        <p:spPr>
          <a:xfrm>
            <a:off x="6537960" y="1783080"/>
            <a:ext cx="777240" cy="777240"/>
          </a:xfrm>
          <a:prstGeom prst="ellipse">
            <a:avLst/>
          </a:prstGeom>
          <a:solidFill>
            <a:schemeClr val="accent2"/>
          </a:solidFill>
          <a:ln/>
        </p:spPr>
      </p:sp>
      <p:pic>
        <p:nvPicPr>
          <p:cNvPr id="10" name="Server build icon" descr="preencoded.png">    </p:cNvPr>
          <p:cNvPicPr>
            <a:picLocks noChangeAspect="1"/>
          </p:cNvPicPr>
          <p:nvPr/>
        </p:nvPicPr>
        <p:blipFill>
          <a:blip r:embed="rId2"/>
          <a:stretch>
            <a:fillRect/>
          </a:stretch>
        </p:blipFill>
        <p:spPr>
          <a:xfrm>
            <a:off x="6732270" y="1977390"/>
            <a:ext cx="388620" cy="388620"/>
          </a:xfrm>
          <a:prstGeom prst="rect">
            <a:avLst/>
          </a:prstGeom>
        </p:spPr>
      </p:pic>
      <p:sp>
        <p:nvSpPr>
          <p:cNvPr id="11" name="Server build heading"/>
          <p:cNvSpPr txBox="1"/>
          <p:nvPr/>
        </p:nvSpPr>
        <p:spPr>
          <a:xfrm>
            <a:off x="7543800" y="1783080"/>
            <a:ext cx="3749040" cy="822960"/>
          </a:xfrm>
          <a:prstGeom prst="rect">
            <a:avLst/>
          </a:prstGeom>
          <a:noFill/>
          <a:ln/>
        </p:spPr>
        <p:txBody>
          <a:bodyPr wrap="square" lIns="0" tIns="0" rIns="0" bIns="0" rtlCol="0" anchor="t"/>
          <a:lstStyle/>
          <a:p>
            <a:pPr indent="0" marL="0">
              <a:buNone/>
            </a:pPr>
            <a:r>
              <a:rPr lang="en-US" sz="2300" dirty="0">
                <a:solidFill>
                  <a:schemeClr val="accent2"/>
                </a:solidFill>
                <a:latin typeface="Cambria" pitchFamily="34" charset="0"/>
                <a:ea typeface="Cambria" pitchFamily="34" charset="-122"/>
                <a:cs typeface="Cambria" pitchFamily="34" charset="-120"/>
              </a:rPr>
              <a:t>Server build</a:t>
            </a:r>
            <a:endParaRPr lang="en-US" sz="2300" dirty="0"/>
          </a:p>
          <a:p>
            <a:pPr indent="0" marL="0">
              <a:buNone/>
            </a:pPr>
            <a:r>
              <a:rPr lang="en-US" sz="1200" b="1" spc="150" kern="0" dirty="0">
                <a:solidFill>
                  <a:schemeClr val="accent3"/>
                </a:solidFill>
              </a:rPr>
              <a:t>MOST CAPABLE</a:t>
            </a:r>
            <a:endParaRPr lang="en-US" sz="2300" dirty="0"/>
          </a:p>
        </p:txBody>
      </p:sp>
      <p:sp>
        <p:nvSpPr>
          <p:cNvPr id="12" name="Server build items"/>
          <p:cNvSpPr txBox="1"/>
          <p:nvPr/>
        </p:nvSpPr>
        <p:spPr>
          <a:xfrm>
            <a:off x="6537960" y="2834640"/>
            <a:ext cx="47091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accent2"/>
                </a:solidFill>
              </a:rPr>
              <a:t>A Docker container behind the school's single sign-on</a:t>
            </a:r>
            <a:endParaRPr lang="en-US" sz="1700" dirty="0"/>
          </a:p>
          <a:p>
            <a:pPr marL="342900" indent="-342900">
              <a:spcAft>
                <a:spcPts val="800"/>
              </a:spcAft>
              <a:buSzPct val="100000"/>
              <a:buChar char="•"/>
            </a:pPr>
            <a:r>
              <a:rPr lang="en-US" sz="1700" dirty="0">
                <a:solidFill>
                  <a:schemeClr val="accent2"/>
                </a:solidFill>
              </a:rPr>
              <a:t>Reads scanned statements with OCR</a:t>
            </a:r>
            <a:endParaRPr lang="en-US" sz="1700" dirty="0"/>
          </a:p>
          <a:p>
            <a:pPr marL="342900" indent="-342900">
              <a:spcAft>
                <a:spcPts val="800"/>
              </a:spcAft>
              <a:buSzPct val="100000"/>
              <a:buChar char="•"/>
            </a:pPr>
            <a:r>
              <a:rPr lang="en-US" sz="1700" dirty="0">
                <a:solidFill>
                  <a:schemeClr val="accent2"/>
                </a:solidFill>
              </a:rPr>
              <a:t>Each user's projects are kept separate and encrypted</a:t>
            </a:r>
            <a:endParaRPr lang="en-US" sz="1700" dirty="0"/>
          </a:p>
        </p:txBody>
      </p:sp>
      <p:sp>
        <p:nvSpPr>
          <p:cNvPr id="13" name="pilot card"/>
          <p:cNvSpPr/>
          <p:nvPr/>
        </p:nvSpPr>
        <p:spPr>
          <a:xfrm>
            <a:off x="548640" y="5212080"/>
            <a:ext cx="11018520" cy="914400"/>
          </a:xfrm>
          <a:prstGeom prst="roundRect">
            <a:avLst>
              <a:gd name="adj" fmla="val 8000"/>
            </a:avLst>
          </a:prstGeom>
          <a:solidFill>
            <a:schemeClr val="accent2"/>
          </a:solidFill>
          <a:ln/>
          <a:effectLst>
            <a:outerShdw sx="100000" sy="100000" kx="0" ky="0" algn="bl" rotWithShape="0" blurRad="101600" dist="25400" dir="5400000">
              <a:srgbClr val="1D2844">
                <a:alpha val="16000"/>
              </a:srgbClr>
            </a:outerShdw>
          </a:effectLst>
        </p:spPr>
      </p:sp>
      <p:sp>
        <p:nvSpPr>
          <p:cNvPr id="14" name="pilot circle"/>
          <p:cNvSpPr/>
          <p:nvPr/>
        </p:nvSpPr>
        <p:spPr>
          <a:xfrm>
            <a:off x="777240" y="5321808"/>
            <a:ext cx="694944" cy="694944"/>
          </a:xfrm>
          <a:prstGeom prst="ellipse">
            <a:avLst/>
          </a:prstGeom>
          <a:solidFill>
            <a:schemeClr val="accent1"/>
          </a:solidFill>
          <a:ln/>
        </p:spPr>
      </p:sp>
      <p:pic>
        <p:nvPicPr>
          <p:cNvPr id="15" name="pilot icon" descr="preencoded.png">    </p:cNvPr>
          <p:cNvPicPr>
            <a:picLocks noChangeAspect="1"/>
          </p:cNvPicPr>
          <p:nvPr/>
        </p:nvPicPr>
        <p:blipFill>
          <a:blip r:embed="rId3"/>
          <a:stretch>
            <a:fillRect/>
          </a:stretch>
        </p:blipFill>
        <p:spPr>
          <a:xfrm>
            <a:off x="950976" y="5495544"/>
            <a:ext cx="347472" cy="347472"/>
          </a:xfrm>
          <a:prstGeom prst="rect">
            <a:avLst/>
          </a:prstGeom>
        </p:spPr>
      </p:pic>
      <p:sp>
        <p:nvSpPr>
          <p:cNvPr id="16" name="pilot text"/>
          <p:cNvSpPr txBox="1"/>
          <p:nvPr/>
        </p:nvSpPr>
        <p:spPr>
          <a:xfrm>
            <a:off x="1691640" y="5212080"/>
            <a:ext cx="9692640" cy="914400"/>
          </a:xfrm>
          <a:prstGeom prst="rect">
            <a:avLst/>
          </a:prstGeom>
          <a:noFill/>
          <a:ln/>
        </p:spPr>
        <p:txBody>
          <a:bodyPr wrap="square" lIns="0" tIns="0" rIns="0" bIns="0" rtlCol="0" anchor="ctr"/>
          <a:lstStyle/>
          <a:p>
            <a:pPr indent="0" marL="0">
              <a:buNone/>
            </a:pPr>
            <a:r>
              <a:rPr lang="en-US" sz="1600" b="1" dirty="0">
                <a:solidFill>
                  <a:schemeClr val="bg1"/>
                </a:solidFill>
              </a:rPr>
              <a:t>Start with a pilot: </a:t>
            </a:r>
            <a:pPr indent="0" marL="0">
              <a:buNone/>
            </a:pPr>
            <a:r>
              <a:rPr lang="en-US" sz="1600" dirty="0">
                <a:solidFill>
                  <a:schemeClr val="accent4"/>
                </a:solidFill>
              </a:rPr>
              <a:t>one course, one semester. The Implementation Guide covers setup, security review and IT questions.</a:t>
            </a:r>
            <a:endParaRPr lang="en-US" sz="16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3000" dirty="0">
                <a:solidFill>
                  <a:schemeClr val="accent2"/>
                </a:solidFill>
                <a:latin typeface="Cambria" pitchFamily="34" charset="0"/>
                <a:ea typeface="Cambria" pitchFamily="34" charset="-122"/>
                <a:cs typeface="Cambria" pitchFamily="34" charset="-120"/>
              </a:rPr>
              <a:t>Four things to remember</a:t>
            </a:r>
            <a:endParaRPr lang="en-US" sz="3000" dirty="0"/>
          </a:p>
        </p:txBody>
      </p:sp>
      <p:sp>
        <p:nvSpPr>
          <p:cNvPr id="3" name="takeaway card 1"/>
          <p:cNvSpPr/>
          <p:nvPr/>
        </p:nvSpPr>
        <p:spPr>
          <a:xfrm>
            <a:off x="548640" y="1463040"/>
            <a:ext cx="5394960" cy="2103120"/>
          </a:xfrm>
          <a:prstGeom prst="roundRect">
            <a:avLst>
              <a:gd name="adj" fmla="val 3478"/>
            </a:avLst>
          </a:prstGeom>
          <a:solidFill>
            <a:schemeClr val="bg1"/>
          </a:solidFill>
          <a:ln/>
          <a:effectLst>
            <a:outerShdw sx="100000" sy="100000" kx="0" ky="0" algn="bl" rotWithShape="0" blurRad="101600" dist="25400" dir="5400000">
              <a:srgbClr val="1D2844">
                <a:alpha val="16000"/>
              </a:srgbClr>
            </a:outerShdw>
          </a:effectLst>
        </p:spPr>
      </p:sp>
      <p:sp>
        <p:nvSpPr>
          <p:cNvPr id="4" name="takeaway number 1"/>
          <p:cNvSpPr txBox="1"/>
          <p:nvPr/>
        </p:nvSpPr>
        <p:spPr>
          <a:xfrm>
            <a:off x="868680" y="1645920"/>
            <a:ext cx="822960" cy="17373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a:t>
            </a:r>
            <a:endParaRPr lang="en-US" sz="6000" dirty="0"/>
          </a:p>
        </p:txBody>
      </p:sp>
      <p:sp>
        <p:nvSpPr>
          <p:cNvPr id="5" name="takeaway text 1"/>
          <p:cNvSpPr txBox="1"/>
          <p:nvPr/>
        </p:nvSpPr>
        <p:spPr>
          <a:xfrm>
            <a:off x="1783080" y="1645920"/>
            <a:ext cx="3886200" cy="1737360"/>
          </a:xfrm>
          <a:prstGeom prst="rect">
            <a:avLst/>
          </a:prstGeom>
          <a:noFill/>
          <a:ln/>
        </p:spPr>
        <p:txBody>
          <a:bodyPr wrap="square" lIns="0" tIns="0" rIns="0" bIns="0" rtlCol="0" anchor="ctr"/>
          <a:lstStyle/>
          <a:p>
            <a:pPr indent="0" marL="0">
              <a:spcAft>
                <a:spcPts val="800"/>
              </a:spcAft>
              <a:buNone/>
            </a:pPr>
            <a:r>
              <a:rPr lang="en-US" sz="2100" dirty="0">
                <a:solidFill>
                  <a:schemeClr val="accent2"/>
                </a:solidFill>
                <a:latin typeface="Cambria" pitchFamily="34" charset="0"/>
                <a:ea typeface="Cambria" pitchFamily="34" charset="-122"/>
                <a:cs typeface="Cambria" pitchFamily="34" charset="-120"/>
              </a:rPr>
              <a:t>Automate the reading, keep the judgment</a:t>
            </a:r>
            <a:endParaRPr lang="en-US" sz="2100" dirty="0"/>
          </a:p>
          <a:p>
            <a:pPr indent="0" marL="0">
              <a:spcAft>
                <a:spcPts val="800"/>
              </a:spcAft>
              <a:buNone/>
            </a:pPr>
            <a:r>
              <a:rPr lang="en-US" sz="1600" dirty="0">
                <a:solidFill>
                  <a:schemeClr val="tx2"/>
                </a:solidFill>
              </a:rPr>
              <a:t>Let software do the typing; your time goes to analysis.</a:t>
            </a:r>
            <a:endParaRPr lang="en-US" sz="2100" dirty="0"/>
          </a:p>
        </p:txBody>
      </p:sp>
      <p:sp>
        <p:nvSpPr>
          <p:cNvPr id="6" name="takeaway card 2"/>
          <p:cNvSpPr/>
          <p:nvPr/>
        </p:nvSpPr>
        <p:spPr>
          <a:xfrm>
            <a:off x="6172200" y="1463040"/>
            <a:ext cx="5394960" cy="2103120"/>
          </a:xfrm>
          <a:prstGeom prst="roundRect">
            <a:avLst>
              <a:gd name="adj" fmla="val 3478"/>
            </a:avLst>
          </a:prstGeom>
          <a:solidFill>
            <a:schemeClr val="bg1"/>
          </a:solidFill>
          <a:ln/>
          <a:effectLst>
            <a:outerShdw sx="100000" sy="100000" kx="0" ky="0" algn="bl" rotWithShape="0" blurRad="101600" dist="25400" dir="5400000">
              <a:srgbClr val="1D2844">
                <a:alpha val="16000"/>
              </a:srgbClr>
            </a:outerShdw>
          </a:effectLst>
        </p:spPr>
      </p:sp>
      <p:sp>
        <p:nvSpPr>
          <p:cNvPr id="7" name="takeaway number 2"/>
          <p:cNvSpPr txBox="1"/>
          <p:nvPr/>
        </p:nvSpPr>
        <p:spPr>
          <a:xfrm>
            <a:off x="6492240" y="1645920"/>
            <a:ext cx="822960" cy="17373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a:t>
            </a:r>
            <a:endParaRPr lang="en-US" sz="6000" dirty="0"/>
          </a:p>
        </p:txBody>
      </p:sp>
      <p:sp>
        <p:nvSpPr>
          <p:cNvPr id="8" name="takeaway text 2"/>
          <p:cNvSpPr txBox="1"/>
          <p:nvPr/>
        </p:nvSpPr>
        <p:spPr>
          <a:xfrm>
            <a:off x="7406640" y="1645920"/>
            <a:ext cx="3886200" cy="1737360"/>
          </a:xfrm>
          <a:prstGeom prst="rect">
            <a:avLst/>
          </a:prstGeom>
          <a:noFill/>
          <a:ln/>
        </p:spPr>
        <p:txBody>
          <a:bodyPr wrap="square" lIns="0" tIns="0" rIns="0" bIns="0" rtlCol="0" anchor="ctr"/>
          <a:lstStyle/>
          <a:p>
            <a:pPr indent="0" marL="0">
              <a:spcAft>
                <a:spcPts val="800"/>
              </a:spcAft>
              <a:buNone/>
            </a:pPr>
            <a:r>
              <a:rPr lang="en-US" sz="2100" dirty="0">
                <a:solidFill>
                  <a:schemeClr val="accent2"/>
                </a:solidFill>
                <a:latin typeface="Cambria" pitchFamily="34" charset="0"/>
                <a:ea typeface="Cambria" pitchFamily="34" charset="-122"/>
                <a:cs typeface="Cambria" pitchFamily="34" charset="-120"/>
              </a:rPr>
              <a:t>Reconcile before you rely</a:t>
            </a:r>
            <a:endParaRPr lang="en-US" sz="2100" dirty="0"/>
          </a:p>
          <a:p>
            <a:pPr indent="0" marL="0">
              <a:spcAft>
                <a:spcPts val="800"/>
              </a:spcAft>
              <a:buNone/>
            </a:pPr>
            <a:r>
              <a:rPr lang="en-US" sz="1600" dirty="0">
                <a:solidFill>
                  <a:schemeClr val="tx2"/>
                </a:solidFill>
              </a:rPr>
              <a:t>If the numbers don't tie to the bank's totals, don't use them yet.</a:t>
            </a:r>
            <a:endParaRPr lang="en-US" sz="2100" dirty="0"/>
          </a:p>
        </p:txBody>
      </p:sp>
      <p:sp>
        <p:nvSpPr>
          <p:cNvPr id="9" name="takeaway card 3"/>
          <p:cNvSpPr/>
          <p:nvPr/>
        </p:nvSpPr>
        <p:spPr>
          <a:xfrm>
            <a:off x="548640" y="3794760"/>
            <a:ext cx="5394960" cy="2103120"/>
          </a:xfrm>
          <a:prstGeom prst="roundRect">
            <a:avLst>
              <a:gd name="adj" fmla="val 3478"/>
            </a:avLst>
          </a:prstGeom>
          <a:solidFill>
            <a:schemeClr val="bg1"/>
          </a:solidFill>
          <a:ln/>
          <a:effectLst>
            <a:outerShdw sx="100000" sy="100000" kx="0" ky="0" algn="bl" rotWithShape="0" blurRad="101600" dist="25400" dir="5400000">
              <a:srgbClr val="1D2844">
                <a:alpha val="16000"/>
              </a:srgbClr>
            </a:outerShdw>
          </a:effectLst>
        </p:spPr>
      </p:sp>
      <p:sp>
        <p:nvSpPr>
          <p:cNvPr id="10" name="takeaway number 3"/>
          <p:cNvSpPr txBox="1"/>
          <p:nvPr/>
        </p:nvSpPr>
        <p:spPr>
          <a:xfrm>
            <a:off x="868680" y="3977640"/>
            <a:ext cx="822960" cy="17373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3</a:t>
            </a:r>
            <a:endParaRPr lang="en-US" sz="6000" dirty="0"/>
          </a:p>
        </p:txBody>
      </p:sp>
      <p:sp>
        <p:nvSpPr>
          <p:cNvPr id="11" name="takeaway text 3"/>
          <p:cNvSpPr txBox="1"/>
          <p:nvPr/>
        </p:nvSpPr>
        <p:spPr>
          <a:xfrm>
            <a:off x="1783080" y="3977640"/>
            <a:ext cx="3886200" cy="1737360"/>
          </a:xfrm>
          <a:prstGeom prst="rect">
            <a:avLst/>
          </a:prstGeom>
          <a:noFill/>
          <a:ln/>
        </p:spPr>
        <p:txBody>
          <a:bodyPr wrap="square" lIns="0" tIns="0" rIns="0" bIns="0" rtlCol="0" anchor="ctr"/>
          <a:lstStyle/>
          <a:p>
            <a:pPr indent="0" marL="0">
              <a:spcAft>
                <a:spcPts val="800"/>
              </a:spcAft>
              <a:buNone/>
            </a:pPr>
            <a:r>
              <a:rPr lang="en-US" sz="2100" dirty="0">
                <a:solidFill>
                  <a:schemeClr val="accent2"/>
                </a:solidFill>
                <a:latin typeface="Cambria" pitchFamily="34" charset="0"/>
                <a:ea typeface="Cambria" pitchFamily="34" charset="-122"/>
                <a:cs typeface="Cambria" pitchFamily="34" charset="-120"/>
              </a:rPr>
              <a:t>Flags are leads, not conclusions</a:t>
            </a:r>
            <a:endParaRPr lang="en-US" sz="2100" dirty="0"/>
          </a:p>
          <a:p>
            <a:pPr indent="0" marL="0">
              <a:spcAft>
                <a:spcPts val="800"/>
              </a:spcAft>
              <a:buNone/>
            </a:pPr>
            <a:r>
              <a:rPr lang="en-US" sz="1600" dirty="0">
                <a:solidFill>
                  <a:schemeClr val="tx2"/>
                </a:solidFill>
              </a:rPr>
              <a:t>Every pattern is a reason to look closer and ask questions.</a:t>
            </a:r>
            <a:endParaRPr lang="en-US" sz="2100" dirty="0"/>
          </a:p>
        </p:txBody>
      </p:sp>
      <p:sp>
        <p:nvSpPr>
          <p:cNvPr id="12" name="takeaway card 4"/>
          <p:cNvSpPr/>
          <p:nvPr/>
        </p:nvSpPr>
        <p:spPr>
          <a:xfrm>
            <a:off x="6172200" y="3794760"/>
            <a:ext cx="5394960" cy="2103120"/>
          </a:xfrm>
          <a:prstGeom prst="roundRect">
            <a:avLst>
              <a:gd name="adj" fmla="val 3478"/>
            </a:avLst>
          </a:prstGeom>
          <a:solidFill>
            <a:schemeClr val="bg1"/>
          </a:solidFill>
          <a:ln/>
          <a:effectLst>
            <a:outerShdw sx="100000" sy="100000" kx="0" ky="0" algn="bl" rotWithShape="0" blurRad="101600" dist="25400" dir="5400000">
              <a:srgbClr val="1D2844">
                <a:alpha val="16000"/>
              </a:srgbClr>
            </a:outerShdw>
          </a:effectLst>
        </p:spPr>
      </p:sp>
      <p:sp>
        <p:nvSpPr>
          <p:cNvPr id="13" name="takeaway number 4"/>
          <p:cNvSpPr txBox="1"/>
          <p:nvPr/>
        </p:nvSpPr>
        <p:spPr>
          <a:xfrm>
            <a:off x="6492240" y="3977640"/>
            <a:ext cx="822960" cy="17373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4</a:t>
            </a:r>
            <a:endParaRPr lang="en-US" sz="6000" dirty="0"/>
          </a:p>
        </p:txBody>
      </p:sp>
      <p:sp>
        <p:nvSpPr>
          <p:cNvPr id="14" name="takeaway text 4"/>
          <p:cNvSpPr txBox="1"/>
          <p:nvPr/>
        </p:nvSpPr>
        <p:spPr>
          <a:xfrm>
            <a:off x="7406640" y="3977640"/>
            <a:ext cx="3886200" cy="1737360"/>
          </a:xfrm>
          <a:prstGeom prst="rect">
            <a:avLst/>
          </a:prstGeom>
          <a:noFill/>
          <a:ln/>
        </p:spPr>
        <p:txBody>
          <a:bodyPr wrap="square" lIns="0" tIns="0" rIns="0" bIns="0" rtlCol="0" anchor="ctr"/>
          <a:lstStyle/>
          <a:p>
            <a:pPr indent="0" marL="0">
              <a:spcAft>
                <a:spcPts val="800"/>
              </a:spcAft>
              <a:buNone/>
            </a:pPr>
            <a:r>
              <a:rPr lang="en-US" sz="2100" dirty="0">
                <a:solidFill>
                  <a:schemeClr val="accent2"/>
                </a:solidFill>
                <a:latin typeface="Cambria" pitchFamily="34" charset="0"/>
                <a:ea typeface="Cambria" pitchFamily="34" charset="-122"/>
                <a:cs typeface="Cambria" pitchFamily="34" charset="-120"/>
              </a:rPr>
              <a:t>Get statements from the bank</a:t>
            </a:r>
            <a:endParaRPr lang="en-US" sz="2100" dirty="0"/>
          </a:p>
          <a:p>
            <a:pPr indent="0" marL="0">
              <a:spcAft>
                <a:spcPts val="800"/>
              </a:spcAft>
              <a:buNone/>
            </a:pPr>
            <a:r>
              <a:rPr lang="en-US" sz="1600" dirty="0">
                <a:solidFill>
                  <a:schemeClr val="tx2"/>
                </a:solidFill>
              </a:rPr>
              <a:t>When a statement matters, get it directly from the bank, or by subpoena.</a:t>
            </a:r>
            <a:endParaRPr lang="en-US" sz="2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logo card"/>
          <p:cNvSpPr/>
          <p:nvPr/>
        </p:nvSpPr>
        <p:spPr>
          <a:xfrm>
            <a:off x="731520" y="685800"/>
            <a:ext cx="2606040" cy="960120"/>
          </a:xfrm>
          <a:prstGeom prst="roundRect">
            <a:avLst>
              <a:gd name="adj" fmla="val 7619"/>
            </a:avLst>
          </a:prstGeom>
          <a:solidFill>
            <a:schemeClr val="bg1"/>
          </a:solidFill>
          <a:ln/>
          <a:effectLst>
            <a:outerShdw sx="100000" sy="100000" kx="0" ky="0" algn="bl" rotWithShape="0" blurRad="101600" dist="25400" dir="5400000">
              <a:srgbClr val="1D2844">
                <a:alpha val="16000"/>
              </a:srgbClr>
            </a:outerShdw>
          </a:effectLst>
        </p:spPr>
      </p:sp>
      <p:pic>
        <p:nvPicPr>
          <p:cNvPr id="3" name="logo" descr="Justice for Fraud Victims Project logo">    </p:cNvPr>
          <p:cNvPicPr>
            <a:picLocks noChangeAspect="1"/>
          </p:cNvPicPr>
          <p:nvPr/>
        </p:nvPicPr>
        <p:blipFill>
          <a:blip r:embed="rId1"/>
          <a:stretch>
            <a:fillRect/>
          </a:stretch>
        </p:blipFill>
        <p:spPr>
          <a:xfrm>
            <a:off x="886968" y="768096"/>
            <a:ext cx="2088672" cy="674911"/>
          </a:xfrm>
          <a:prstGeom prst="rect">
            <a:avLst/>
          </a:prstGeom>
        </p:spPr>
      </p:pic>
      <p:sp>
        <p:nvSpPr>
          <p:cNvPr id="4" name="Text 0"/>
          <p:cNvSpPr/>
          <p:nvPr>
            <p:ph idx="100" type="title" hasCustomPrompt="1"/>
          </p:nvPr>
        </p:nvSpPr>
        <p:spPr>
          <a:xfrm>
            <a:off x="731520" y="2148840"/>
            <a:ext cx="5852160" cy="1371600"/>
          </a:xfrm>
          <a:prstGeom prst="rect">
            <a:avLst/>
          </a:prstGeom>
          <a:noFill/>
          <a:ln/>
        </p:spPr>
        <p:txBody>
          <a:bodyPr wrap="square" lIns="0" tIns="0" rIns="0" bIns="0" rtlCol="0" anchor="b"/>
          <a:lstStyle/>
          <a:p>
            <a:pPr algn="l" indent="0" marL="0">
              <a:buNone/>
            </a:pPr>
            <a:r>
              <a:rPr lang="en-US" sz="4600" i="1" dirty="0">
                <a:solidFill>
                  <a:schemeClr val="bg1"/>
                </a:solidFill>
                <a:latin typeface="Cambria" pitchFamily="34" charset="0"/>
                <a:ea typeface="Cambria" pitchFamily="34" charset="-122"/>
                <a:cs typeface="Cambria" pitchFamily="34" charset="-120"/>
              </a:rPr>
              <a:t>Thank you. Questions?</a:t>
            </a:r>
            <a:endParaRPr lang="en-US" sz="4600" dirty="0"/>
          </a:p>
        </p:txBody>
      </p:sp>
      <p:sp>
        <p:nvSpPr>
          <p:cNvPr id="5" name="Text 0"/>
          <p:cNvSpPr/>
          <p:nvPr>
            <p:ph idx="101" type="body" hasCustomPrompt="1"/>
          </p:nvPr>
        </p:nvSpPr>
        <p:spPr>
          <a:xfrm>
            <a:off x="731520" y="3611880"/>
            <a:ext cx="5669280" cy="914400"/>
          </a:xfrm>
          <a:prstGeom prst="rect">
            <a:avLst/>
          </a:prstGeom>
          <a:noFill/>
          <a:ln/>
        </p:spPr>
        <p:txBody>
          <a:bodyPr wrap="square" lIns="0" tIns="0" rIns="0" bIns="0" rtlCol="0" anchor="t"/>
          <a:lstStyle/>
          <a:p>
            <a:pPr indent="0" marL="0">
              <a:buNone/>
            </a:pPr>
            <a:r>
              <a:rPr lang="en-US" sz="2000" dirty="0">
                <a:solidFill>
                  <a:schemeClr val="accent4"/>
                </a:solidFill>
              </a:rPr>
              <a:t>Try the sample case, read the guides, and tell us what you find.</a:t>
            </a:r>
            <a:endParaRPr lang="en-US" sz="2000" dirty="0"/>
          </a:p>
        </p:txBody>
      </p:sp>
      <p:sp>
        <p:nvSpPr>
          <p:cNvPr id="6" name="Download the app circle"/>
          <p:cNvSpPr/>
          <p:nvPr/>
        </p:nvSpPr>
        <p:spPr>
          <a:xfrm>
            <a:off x="7406640" y="1920240"/>
            <a:ext cx="731520" cy="731520"/>
          </a:xfrm>
          <a:prstGeom prst="ellipse">
            <a:avLst/>
          </a:prstGeom>
          <a:solidFill>
            <a:schemeClr val="accent1"/>
          </a:solidFill>
          <a:ln/>
        </p:spPr>
      </p:sp>
      <p:pic>
        <p:nvPicPr>
          <p:cNvPr id="7" name="Download the app icon" descr="preencoded.png">    </p:cNvPr>
          <p:cNvPicPr>
            <a:picLocks noChangeAspect="1"/>
          </p:cNvPicPr>
          <p:nvPr/>
        </p:nvPicPr>
        <p:blipFill>
          <a:blip r:embed="rId2"/>
          <a:stretch>
            <a:fillRect/>
          </a:stretch>
        </p:blipFill>
        <p:spPr>
          <a:xfrm>
            <a:off x="7589520" y="2103120"/>
            <a:ext cx="365760" cy="365760"/>
          </a:xfrm>
          <a:prstGeom prst="rect">
            <a:avLst/>
          </a:prstGeom>
        </p:spPr>
      </p:pic>
      <p:sp>
        <p:nvSpPr>
          <p:cNvPr id="8" name="Download the app link"/>
          <p:cNvSpPr txBox="1"/>
          <p:nvPr/>
        </p:nvSpPr>
        <p:spPr>
          <a:xfrm>
            <a:off x="8366760" y="1938528"/>
            <a:ext cx="3566160" cy="777240"/>
          </a:xfrm>
          <a:prstGeom prst="rect">
            <a:avLst/>
          </a:prstGeom>
          <a:noFill/>
          <a:ln/>
        </p:spPr>
        <p:txBody>
          <a:bodyPr wrap="square" lIns="0" tIns="0" rIns="0" bIns="0" rtlCol="0" anchor="t"/>
          <a:lstStyle/>
          <a:p>
            <a:pPr indent="0" marL="0">
              <a:buNone/>
            </a:pPr>
            <a:r>
              <a:rPr lang="en-US" sz="1700" b="1" dirty="0">
                <a:solidFill>
                  <a:schemeClr val="bg1"/>
                </a:solidFill>
              </a:rPr>
              <a:t>Download the app</a:t>
            </a:r>
            <a:endParaRPr lang="en-US" sz="1700" dirty="0"/>
          </a:p>
          <a:p>
            <a:pPr indent="0" marL="0">
              <a:buNone/>
            </a:pPr>
            <a:r>
              <a:rPr lang="en-US" sz="1500" u="sng" dirty="0">
                <a:solidFill>
                  <a:schemeClr val="accent4"/>
                </a:solidFill>
                <a:hlinkClick r:id="rId3" invalidUrl="" action="" tgtFrame="" tooltip="" history="1" highlightClick="0" endSnd="0">
                  <a:extLst>
                    <a:ext uri="{A12FA001-AC4F-418D-AE19-62706E023703}">
                      <ahyp:hlinkClr xmlns:ahyp="http://schemas.microsoft.com/office/drawing/2018/hyperlinkcolor" val="tx"/>
                    </a:ext>
                  </a:extLst>
                </a:hlinkClick>
              </a:rPr>
              <a:t>github.com/jdaiken/parsing_tool</a:t>
            </a:r>
            <a:endParaRPr lang="en-US" sz="1700" dirty="0"/>
          </a:p>
        </p:txBody>
      </p:sp>
      <p:sp>
        <p:nvSpPr>
          <p:cNvPr id="9" name="Justice for Fraud Victims Project circle"/>
          <p:cNvSpPr/>
          <p:nvPr/>
        </p:nvSpPr>
        <p:spPr>
          <a:xfrm>
            <a:off x="7406640" y="3108960"/>
            <a:ext cx="731520" cy="731520"/>
          </a:xfrm>
          <a:prstGeom prst="ellipse">
            <a:avLst/>
          </a:prstGeom>
          <a:solidFill>
            <a:schemeClr val="accent1"/>
          </a:solidFill>
          <a:ln/>
        </p:spPr>
      </p:sp>
      <p:pic>
        <p:nvPicPr>
          <p:cNvPr id="10" name="Justice for Fraud Victims Project icon" descr="preencoded.png">    </p:cNvPr>
          <p:cNvPicPr>
            <a:picLocks noChangeAspect="1"/>
          </p:cNvPicPr>
          <p:nvPr/>
        </p:nvPicPr>
        <p:blipFill>
          <a:blip r:embed="rId4"/>
          <a:stretch>
            <a:fillRect/>
          </a:stretch>
        </p:blipFill>
        <p:spPr>
          <a:xfrm>
            <a:off x="7589520" y="3291840"/>
            <a:ext cx="365760" cy="365760"/>
          </a:xfrm>
          <a:prstGeom prst="rect">
            <a:avLst/>
          </a:prstGeom>
        </p:spPr>
      </p:pic>
      <p:sp>
        <p:nvSpPr>
          <p:cNvPr id="11" name="Justice for Fraud Victims Project link"/>
          <p:cNvSpPr txBox="1"/>
          <p:nvPr/>
        </p:nvSpPr>
        <p:spPr>
          <a:xfrm>
            <a:off x="8366760" y="3127248"/>
            <a:ext cx="3566160" cy="777240"/>
          </a:xfrm>
          <a:prstGeom prst="rect">
            <a:avLst/>
          </a:prstGeom>
          <a:noFill/>
          <a:ln/>
        </p:spPr>
        <p:txBody>
          <a:bodyPr wrap="square" lIns="0" tIns="0" rIns="0" bIns="0" rtlCol="0" anchor="t"/>
          <a:lstStyle/>
          <a:p>
            <a:pPr indent="0" marL="0">
              <a:buNone/>
            </a:pPr>
            <a:r>
              <a:rPr lang="en-US" sz="1700" b="1" dirty="0">
                <a:solidFill>
                  <a:schemeClr val="bg1"/>
                </a:solidFill>
              </a:rPr>
              <a:t>Justice for Fraud Victims Project</a:t>
            </a:r>
            <a:endParaRPr lang="en-US" sz="1700" dirty="0"/>
          </a:p>
          <a:p>
            <a:pPr indent="0" marL="0">
              <a:buNone/>
            </a:pPr>
            <a:r>
              <a:rPr lang="en-US" sz="1500" u="sng" dirty="0">
                <a:solidFill>
                  <a:schemeClr val="accent4"/>
                </a:solidFill>
                <a:hlinkClick r:id="rId5" invalidUrl="" action="" tgtFrame="" tooltip="" history="1" highlightClick="0" endSnd="0">
                  <a:extLst>
                    <a:ext uri="{A12FA001-AC4F-418D-AE19-62706E023703}">
                      <ahyp:hlinkClr xmlns:ahyp="http://schemas.microsoft.com/office/drawing/2018/hyperlinkcolor" val="tx"/>
                    </a:ext>
                  </a:extLst>
                </a:hlinkClick>
              </a:rPr>
              <a:t>justiceforfraudvictimsproject.org</a:t>
            </a:r>
            <a:endParaRPr lang="en-US" sz="1700" dirty="0"/>
          </a:p>
        </p:txBody>
      </p:sp>
      <p:sp>
        <p:nvSpPr>
          <p:cNvPr id="12" name="User and Implementation Guides circle"/>
          <p:cNvSpPr/>
          <p:nvPr/>
        </p:nvSpPr>
        <p:spPr>
          <a:xfrm>
            <a:off x="7406640" y="4297680"/>
            <a:ext cx="731520" cy="731520"/>
          </a:xfrm>
          <a:prstGeom prst="ellipse">
            <a:avLst/>
          </a:prstGeom>
          <a:solidFill>
            <a:schemeClr val="accent1"/>
          </a:solidFill>
          <a:ln/>
        </p:spPr>
      </p:sp>
      <p:pic>
        <p:nvPicPr>
          <p:cNvPr id="13" name="User and Implementation Guides icon" descr="preencoded.png">    </p:cNvPr>
          <p:cNvPicPr>
            <a:picLocks noChangeAspect="1"/>
          </p:cNvPicPr>
          <p:nvPr/>
        </p:nvPicPr>
        <p:blipFill>
          <a:blip r:embed="rId6"/>
          <a:stretch>
            <a:fillRect/>
          </a:stretch>
        </p:blipFill>
        <p:spPr>
          <a:xfrm>
            <a:off x="7589520" y="4480560"/>
            <a:ext cx="365760" cy="365760"/>
          </a:xfrm>
          <a:prstGeom prst="rect">
            <a:avLst/>
          </a:prstGeom>
        </p:spPr>
      </p:pic>
      <p:sp>
        <p:nvSpPr>
          <p:cNvPr id="14" name="User and Implementation Guides link"/>
          <p:cNvSpPr txBox="1"/>
          <p:nvPr/>
        </p:nvSpPr>
        <p:spPr>
          <a:xfrm>
            <a:off x="8366760" y="4315968"/>
            <a:ext cx="3566160" cy="777240"/>
          </a:xfrm>
          <a:prstGeom prst="rect">
            <a:avLst/>
          </a:prstGeom>
          <a:noFill/>
          <a:ln/>
        </p:spPr>
        <p:txBody>
          <a:bodyPr wrap="square" lIns="0" tIns="0" rIns="0" bIns="0" rtlCol="0" anchor="t"/>
          <a:lstStyle/>
          <a:p>
            <a:pPr indent="0" marL="0">
              <a:buNone/>
            </a:pPr>
            <a:r>
              <a:rPr lang="en-US" sz="1700" b="1" dirty="0">
                <a:solidFill>
                  <a:schemeClr val="bg1"/>
                </a:solidFill>
              </a:rPr>
              <a:t>User and Implementation Guides</a:t>
            </a:r>
            <a:endParaRPr lang="en-US" sz="1700" dirty="0"/>
          </a:p>
          <a:p>
            <a:pPr indent="0" marL="0">
              <a:buNone/>
            </a:pPr>
            <a:r>
              <a:rPr lang="en-US" sz="1500" dirty="0">
                <a:solidFill>
                  <a:schemeClr val="accent4"/>
                </a:solidFill>
              </a:rPr>
              <a:t>Linked in the app's sidebar</a:t>
            </a:r>
            <a:endParaRPr lang="en-US" sz="1700" dirty="0"/>
          </a:p>
        </p:txBody>
      </p:sp>
      <p:sp>
        <p:nvSpPr>
          <p:cNvPr id="15" name="Text 0"/>
          <p:cNvSpPr/>
          <p:nvPr>
            <p:ph idx="102" type="body" hasCustomPrompt="1"/>
          </p:nvPr>
        </p:nvSpPr>
        <p:spPr>
          <a:xfrm>
            <a:off x="731520" y="5394960"/>
            <a:ext cx="5669280" cy="731520"/>
          </a:xfrm>
          <a:prstGeom prst="rect">
            <a:avLst/>
          </a:prstGeom>
          <a:noFill/>
          <a:ln/>
        </p:spPr>
        <p:txBody>
          <a:bodyPr wrap="square" lIns="0" tIns="0" rIns="0" bIns="0" rtlCol="0" anchor="t"/>
          <a:lstStyle/>
          <a:p>
            <a:pPr indent="0" marL="0">
              <a:buNone/>
            </a:pPr>
            <a:r>
              <a:rPr lang="en-US" sz="1500" dirty="0">
                <a:solidFill>
                  <a:schemeClr val="accent3"/>
                </a:solidFill>
              </a:rPr>
              <a:t>November 6, 2026  ·  Justice for Fraud Victims Project</a:t>
            </a:r>
            <a:endParaRPr lang="en-US" sz="1500" dirty="0"/>
          </a:p>
        </p:txBody>
      </p:sp>
    </p:spTree>
  </p:cSld>
  <p:clrMapOvr>
    <a:masterClrMapping/>
  </p:clrMapOvr>
</p:sld>
</file>

<file path=ppt/theme/theme1.xml><?xml version="1.0" encoding="utf-8"?>
<a:theme xmlns:a="http://schemas.openxmlformats.org/drawingml/2006/main" name="JFVP">
  <a:themeElements>
    <a:clrScheme name="JFVP">
      <a:dk1>
        <a:srgbClr val="1D2844"/>
      </a:dk1>
      <a:lt1>
        <a:srgbClr val="FFFFFF"/>
      </a:lt1>
      <a:dk2>
        <a:srgbClr val="4A5568"/>
      </a:dk2>
      <a:lt2>
        <a:srgbClr val="F4F5F7"/>
      </a:lt2>
      <a:accent1>
        <a:srgbClr val="246094"/>
      </a:accent1>
      <a:accent2>
        <a:srgbClr val="1D2844"/>
      </a:accent2>
      <a:accent3>
        <a:srgbClr val="918E81"/>
      </a:accent3>
      <a:accent4>
        <a:srgbClr val="E8EFF6"/>
      </a:accent4>
      <a:accent5>
        <a:srgbClr val="B23B3B"/>
      </a:accent5>
      <a:accent6>
        <a:srgbClr val="2E7D4F"/>
      </a:accent6>
      <a:hlink>
        <a:srgbClr val="246094"/>
      </a:hlink>
      <a:folHlink>
        <a:srgbClr val="1D2844"/>
      </a:folHlink>
    </a:clrScheme>
    <a:fontScheme name="JFVP">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Justice for Fraud Victims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Statement Analyzer: webinar, November 6, 2026</dc:title>
  <dc:subject>PptxGenJS Presentation</dc:subject>
  <dc:creator>Justice for Fraud Victims Project</dc:creator>
  <cp:lastModifiedBy>Justice for Fraud Victims Project</cp:lastModifiedBy>
  <cp:revision>1</cp:revision>
  <dcterms:created xsi:type="dcterms:W3CDTF">2026-10-27T19:29:11Z</dcterms:created>
  <dcterms:modified xsi:type="dcterms:W3CDTF">2026-10-27T19:29:11Z</dcterms:modified>
</cp:coreProperties>
</file>